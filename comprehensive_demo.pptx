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20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0.xml"/>
<Relationship Id="rId2" Type="http://schemas.openxmlformats.org/officeDocument/2006/relationships/notesMaster" Target="../notesMasters/notesMaster1.xml"/>
</Relationship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1. Emphasize the progress made
2. Highlight key achievements
3. Address any concerns about timeline
4. Open for Q&amp;A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4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Header 1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2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Header 3</a:t>
                      </a:r>
                    </a:p>
                  </a:txBody>
                  <a:tcPr>
                    <a:solidFill>
                      <a:srgbClr val="8064A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/>
                        <a:t>Bold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Normal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Colored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Red BG</a:t>
                      </a:r>
                    </a:p>
                  </a:txBody>
                  <a:tcPr>
                    <a:solidFill>
                      <a:srgbClr val="C050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Green BG</a:t>
                      </a:r>
                    </a:p>
                  </a:txBody>
                  <a:tcPr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Blue BG</a:t>
                      </a:r>
                    </a:p>
                  </a:txBody>
                  <a:tcPr>
                    <a:solidFill>
                      <a:srgbClr val="4F81BD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Row 3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3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Row 3 Col 3</a:t>
                      </a:r>
                    </a:p>
                  </a:txBody>
                  <a:tcPr>
                    <a:solidFill>
                      <a:srgbClr val="F7964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FFFFFF"/>
                </a:solidFill>
              </a:rPr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374" dirty="0">
                <a:solidFill>
                  <a:srgbClr val="000000"/>
                </a:solidFill>
              </a:rPr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Financial Report - Advanced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16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 sz="1400">
                          <a:solidFill>
                            <a:srgbClr val="FFFFFF"/>
                          </a:solidFill>
                        </a:rPr>
                        <a:t>Q1 2024 Financial Report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Expenses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Profit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Product 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$1,250,000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$450,000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$800,000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$890,000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$320,000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$570,000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$2,140,000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$770,000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6100"/>
                          </a:solidFill>
                        </a:rPr>
                        <a:t>$1,370,000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4472C4"/>
                </a:solidFill>
              </a:rPr>
              <a:t>Pricing Comparison Matrix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600000"/>
          <a:ext cx="6500000" cy="24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Basic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Pro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Enterprise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50 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Unlimited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24/7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Dedicated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0000"/>
                          </a:solidFill>
                        </a:rPr>
                        <a:t>API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2828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2E7D32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Yes + Priority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Price/month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000000"/>
                          </a:solidFill>
                        </a:rPr>
                        <a:t>$99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Development Process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2000000"/>
            <a:ext cx="1400000" cy="8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FFFFFF"/>
                </a:solidFill>
              </a:rPr>
              <a:t>1. Research</a:t>
            </a:r>
          </a:p>
        </p:txBody>
      </p:sp>
      <p:sp>
        <p:nvSpPr>
          <p:cNvPr id="11" name="Shape 11"/>
          <p:cNvSpPr/>
          <p:nvPr/>
        </p:nvSpPr>
        <p:spPr>
          <a:xfrm>
            <a:off x="1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300000" y="2000000"/>
            <a:ext cx="1400000" cy="8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2. Design</a:t>
            </a:r>
          </a:p>
        </p:txBody>
      </p:sp>
      <p:sp>
        <p:nvSpPr>
          <p:cNvPr id="13" name="Shape 13"/>
          <p:cNvSpPr/>
          <p:nvPr/>
        </p:nvSpPr>
        <p:spPr>
          <a:xfrm>
            <a:off x="3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4300000" y="2000000"/>
            <a:ext cx="1400000" cy="8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3. Develop</a:t>
            </a:r>
          </a:p>
        </p:txBody>
      </p:sp>
      <p:sp>
        <p:nvSpPr>
          <p:cNvPr id="15" name="Shape 15"/>
          <p:cNvSpPr/>
          <p:nvPr/>
        </p:nvSpPr>
        <p:spPr>
          <a:xfrm>
            <a:off x="5800000" y="2200000"/>
            <a:ext cx="400000" cy="4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300000" y="2000000"/>
            <a:ext cx="1400000" cy="8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449" dirty="0">
                <a:solidFill>
                  <a:srgbClr val="000000"/>
                </a:solidFill>
              </a:rPr>
              <a:t>4. Deploy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E79"/>
                </a:solidFill>
              </a:rPr>
              <a:t>Organization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3500000" y="1400000"/>
            <a:ext cx="2000000" cy="600000"/>
          </a:xfrm>
          <a:prstGeom prst="roundRect">
            <a:avLst/>
          </a:prstGeom>
          <a:solidFill>
            <a:srgbClr val="1F4E79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779" dirty="0">
                <a:solidFill>
                  <a:srgbClr val="FFFFFF"/>
                </a:solidFill>
              </a:rPr>
              <a:t>CEO</a:t>
            </a:r>
          </a:p>
        </p:txBody>
      </p:sp>
      <p:sp>
        <p:nvSpPr>
          <p:cNvPr id="11" name="Shape 11"/>
          <p:cNvSpPr/>
          <p:nvPr/>
        </p:nvSpPr>
        <p:spPr>
          <a:xfrm>
            <a:off x="4450000" y="2000000"/>
            <a:ext cx="100000" cy="4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950000" y="2400000"/>
            <a:ext cx="5100000" cy="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10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CTO</a:t>
            </a:r>
          </a:p>
        </p:txBody>
      </p:sp>
      <p:sp>
        <p:nvSpPr>
          <p:cNvPr id="14" name="Shape 14"/>
          <p:cNvSpPr/>
          <p:nvPr/>
        </p:nvSpPr>
        <p:spPr>
          <a:xfrm>
            <a:off x="36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CFO</a:t>
            </a:r>
          </a:p>
        </p:txBody>
      </p:sp>
      <p:sp>
        <p:nvSpPr>
          <p:cNvPr id="15" name="Shape 15"/>
          <p:cNvSpPr/>
          <p:nvPr/>
        </p:nvSpPr>
        <p:spPr>
          <a:xfrm>
            <a:off x="6200000" y="2600000"/>
            <a:ext cx="1800000" cy="500000"/>
          </a:xfrm>
          <a:prstGeom prst="roundRect">
            <a:avLst/>
          </a:prstGeom>
          <a:solidFill>
            <a:srgbClr val="2E75B6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COO</a:t>
            </a:r>
          </a:p>
        </p:txBody>
      </p:sp>
      <p:sp>
        <p:nvSpPr>
          <p:cNvPr id="16" name="Shape 16"/>
          <p:cNvSpPr/>
          <p:nvPr/>
        </p:nvSpPr>
        <p:spPr>
          <a:xfrm>
            <a:off x="18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44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7050000" y="2450000"/>
            <a:ext cx="50000" cy="15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717" dirty="0">
                <a:solidFill>
                  <a:srgbClr val="000000"/>
                </a:solidFill>
              </a:rPr>
              <a:t>Engineering</a:t>
            </a:r>
          </a:p>
        </p:txBody>
      </p:sp>
      <p:sp>
        <p:nvSpPr>
          <p:cNvPr id="20" name="Shape 20"/>
          <p:cNvSpPr/>
          <p:nvPr/>
        </p:nvSpPr>
        <p:spPr>
          <a:xfrm>
            <a:off x="1800000" y="3300000"/>
            <a:ext cx="1200000" cy="400000"/>
          </a:xfrm>
          <a:prstGeom prst="rect">
            <a:avLst/>
          </a:prstGeom>
          <a:solidFill>
            <a:srgbClr val="BDD7EE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PDCA Continuous Improvement Cycle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600000"/>
            <a:ext cx="2500000" cy="15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FFFFFF"/>
                </a:solidFill>
              </a:rPr>
              <a:t>PLAN
Define goals
and strategy</a:t>
            </a:r>
          </a:p>
        </p:txBody>
      </p:sp>
      <p:sp>
        <p:nvSpPr>
          <p:cNvPr id="11" name="Shape 11"/>
          <p:cNvSpPr/>
          <p:nvPr/>
        </p:nvSpPr>
        <p:spPr>
          <a:xfrm>
            <a:off x="4500000" y="1600000"/>
            <a:ext cx="2500000" cy="15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DO
Implement
the plan</a:t>
            </a:r>
          </a:p>
        </p:txBody>
      </p:sp>
      <p:sp>
        <p:nvSpPr>
          <p:cNvPr id="12" name="Shape 12"/>
          <p:cNvSpPr/>
          <p:nvPr/>
        </p:nvSpPr>
        <p:spPr>
          <a:xfrm>
            <a:off x="4500000" y="3300000"/>
            <a:ext cx="2500000" cy="15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CHECK
Measure
results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300000"/>
            <a:ext cx="2500000" cy="15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2362" dirty="0">
                <a:solidFill>
                  <a:srgbClr val="000000"/>
                </a:solidFill>
              </a:rPr>
              <a:t>ACT
Adjust and
improve</a:t>
            </a:r>
          </a:p>
        </p:txBody>
      </p:sp>
      <p:sp>
        <p:nvSpPr>
          <p:cNvPr id="14" name="Shape 14"/>
          <p:cNvSpPr/>
          <p:nvPr/>
        </p:nvSpPr>
        <p:spPr>
          <a:xfrm>
            <a:off x="4100000" y="2100000"/>
            <a:ext cx="300000" cy="300000"/>
          </a:xfrm>
          <a:prstGeom prst="righ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5600000" y="3200000"/>
            <a:ext cx="300000" cy="200000"/>
          </a:xfrm>
          <a:prstGeom prst="down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4100000" y="3800000"/>
            <a:ext cx="300000" cy="300000"/>
          </a:xfrm>
          <a:prstGeom prst="left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2600000" y="3200000"/>
            <a:ext cx="300000" cy="200000"/>
          </a:xfrm>
          <a:prstGeom prst="upArrow">
            <a:avLst/>
          </a:prstGeom>
          <a:solidFill>
            <a:srgbClr val="A5A5A5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Maslow's Hierarchy of Needs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4000000"/>
            <a:ext cx="8000000" cy="600000"/>
          </a:xfrm>
          <a:prstGeom prst="trapezoid">
            <a:avLst/>
          </a:prstGeom>
          <a:solidFill>
            <a:srgbClr val="C00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99" dirty="0">
                <a:solidFill>
                  <a:srgbClr val="FFFFFF"/>
                </a:solidFill>
              </a:rPr>
              <a:t>Physiological Needs - Food, Water, Shelter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3400000"/>
            <a:ext cx="7000000" cy="600000"/>
          </a:xfrm>
          <a:prstGeom prst="trapezoid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242" dirty="0">
                <a:solidFill>
                  <a:srgbClr val="000000"/>
                </a:solidFill>
              </a:rPr>
              <a:t>Safety Needs - Security, Stability</a:t>
            </a:r>
          </a:p>
        </p:txBody>
      </p:sp>
      <p:sp>
        <p:nvSpPr>
          <p:cNvPr id="12" name="Shape 12"/>
          <p:cNvSpPr/>
          <p:nvPr/>
        </p:nvSpPr>
        <p:spPr>
          <a:xfrm>
            <a:off x="1500000" y="2800000"/>
            <a:ext cx="6000000" cy="600000"/>
          </a:xfrm>
          <a:prstGeom prst="trapezoid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952" dirty="0">
                <a:solidFill>
                  <a:srgbClr val="000000"/>
                </a:solidFill>
              </a:rPr>
              <a:t>Love &amp; Belonging - Relationships</a:t>
            </a:r>
          </a:p>
        </p:txBody>
      </p:sp>
      <p:sp>
        <p:nvSpPr>
          <p:cNvPr id="13" name="Shape 13"/>
          <p:cNvSpPr/>
          <p:nvPr/>
        </p:nvSpPr>
        <p:spPr>
          <a:xfrm>
            <a:off x="2000000" y="2200000"/>
            <a:ext cx="5000000" cy="600000"/>
          </a:xfrm>
          <a:prstGeom prst="trapezoid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715" dirty="0">
                <a:solidFill>
                  <a:srgbClr val="000000"/>
                </a:solidFill>
              </a:rPr>
              <a:t>Esteem - Achievement, Respect</a:t>
            </a:r>
          </a:p>
        </p:txBody>
      </p:sp>
      <p:sp>
        <p:nvSpPr>
          <p:cNvPr id="14" name="Shape 14"/>
          <p:cNvSpPr/>
          <p:nvPr/>
        </p:nvSpPr>
        <p:spPr>
          <a:xfrm>
            <a:off x="2500000" y="1500000"/>
            <a:ext cx="4000000" cy="700000"/>
          </a:xfrm>
          <a:prstGeom prst="triangl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3499" dirty="0">
                <a:solidFill>
                  <a:srgbClr val="FFFFFF"/>
                </a:solidFill>
              </a:rPr>
              <a:t>Self-Actualization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Finding Your Ikigai - Venn Diagram</a:t>
            </a:r>
          </a:p>
        </p:txBody>
      </p:sp>
      <p:sp>
        <p:nvSpPr>
          <p:cNvPr id="10" name="Shape 10"/>
          <p:cNvSpPr/>
          <p:nvPr/>
        </p:nvSpPr>
        <p:spPr>
          <a:xfrm>
            <a:off x="1500000" y="1800000"/>
            <a:ext cx="3000000" cy="3000000"/>
          </a:xfrm>
          <a:prstGeom prst="ellipse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FFFFFF"/>
                </a:solidFill>
              </a:rPr>
              <a:t>Skills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800000"/>
            <a:ext cx="3000000" cy="3000000"/>
          </a:xfrm>
          <a:prstGeom prst="ellipse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Passion</a:t>
            </a:r>
          </a:p>
        </p:txBody>
      </p:sp>
      <p:sp>
        <p:nvSpPr>
          <p:cNvPr id="12" name="Shape 12"/>
          <p:cNvSpPr/>
          <p:nvPr/>
        </p:nvSpPr>
        <p:spPr>
          <a:xfrm>
            <a:off x="2500000" y="3200000"/>
            <a:ext cx="3000000" cy="3000000"/>
          </a:xfrm>
          <a:prstGeom prst="ellipse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294" dirty="0">
                <a:solidFill>
                  <a:srgbClr val="000000"/>
                </a:solidFill>
              </a:rPr>
              <a:t>Market Need</a:t>
            </a:r>
          </a:p>
        </p:txBody>
      </p:sp>
      <p:sp>
        <p:nvSpPr>
          <p:cNvPr id="13" name="Shape 13"/>
          <p:cNvSpPr/>
          <p:nvPr/>
        </p:nvSpPr>
        <p:spPr>
          <a:xfrm>
            <a:off x="3200000" y="2800000"/>
            <a:ext cx="1600000" cy="800000"/>
          </a:xfrm>
          <a:prstGeom prst="ellipse">
            <a:avLst/>
          </a:prstGeom>
          <a:solidFill>
            <a:srgbClr val="FFFFFF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4199" dirty="0">
                <a:solidFill>
                  <a:srgbClr val="000000"/>
                </a:solidFill>
              </a:rPr>
              <a:t>IKIGAI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Project Roadmap 2024-2025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300000" y="2000000"/>
          <a:ext cx="7500000" cy="12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  <a:gridCol w="1500000"/>
                <a:gridCol w="15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Q2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Q3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Q4 2024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Research
&amp; Planning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1F497D"/>
                          </a:solidFill>
                        </a:rPr>
                        <a:t>Design
Phase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006100"/>
                          </a:solidFill>
                        </a:rPr>
                        <a:t>Development
Sprint 1-3</a:t>
                      </a:r>
                    </a:p>
                  </a:txBody>
                  <a:tcPr>
                    <a:solidFill>
                      <a:srgbClr val="C6EF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C65911"/>
                          </a:solidFill>
                        </a:rPr>
                        <a:t>Testing
&amp; QA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75623"/>
                          </a:solidFill>
                        </a:rPr>
                        <a:t>Launch
&amp; Support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2E7D32"/>
                          </a:solidFill>
                        </a:rPr>
                        <a:t>✓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ED7D31"/>
                          </a:solidFill>
                        </a:rPr>
                        <a:t>In Progress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7F7F7F"/>
                          </a:solidFill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Executive Dashboard - Q1 2024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" y="1600000"/>
            <a:ext cx="2000000" cy="12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FFFFFF"/>
                </a:solidFill>
              </a:rPr>
              <a:t>Revenue
$2.14M
+15% YoY</a:t>
            </a:r>
          </a:p>
        </p:txBody>
      </p:sp>
      <p:sp>
        <p:nvSpPr>
          <p:cNvPr id="11" name="Shape 11"/>
          <p:cNvSpPr/>
          <p:nvPr/>
        </p:nvSpPr>
        <p:spPr>
          <a:xfrm>
            <a:off x="2500000" y="1600000"/>
            <a:ext cx="2000000" cy="12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Customers
12,450
+22% YoY</a:t>
            </a:r>
          </a:p>
        </p:txBody>
      </p:sp>
      <p:sp>
        <p:nvSpPr>
          <p:cNvPr id="12" name="Shape 12"/>
          <p:cNvSpPr/>
          <p:nvPr/>
        </p:nvSpPr>
        <p:spPr>
          <a:xfrm>
            <a:off x="4700000" y="1600000"/>
            <a:ext cx="2000000" cy="12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NPS Score
72
+8 pts</a:t>
            </a:r>
          </a:p>
        </p:txBody>
      </p:sp>
      <p:sp>
        <p:nvSpPr>
          <p:cNvPr id="13" name="Shape 13"/>
          <p:cNvSpPr/>
          <p:nvPr/>
        </p:nvSpPr>
        <p:spPr>
          <a:xfrm>
            <a:off x="6900000" y="1600000"/>
            <a:ext cx="2000000" cy="1200000"/>
          </a:xfrm>
          <a:prstGeom prst="roundRect">
            <a:avLst/>
          </a:prstGeom>
          <a:solidFill>
            <a:srgbClr val="5B9BD5"/>
          </a:solidFill>
        </p:spPr>
        <p:txBody>
          <a:bodyPr wrap="square" rtlCol="0" anchor="t">
            <a:normAutofit/>
          </a:bodyPr>
          <a:lstStyle/>
          <a:p>
            <a:pPr algn="l"/>
            <a:r>
              <a:rPr lang="en-US" sz="1889" dirty="0">
                <a:solidFill>
                  <a:srgbClr val="000000"/>
                </a:solidFill>
              </a:rPr>
              <a:t>Retention
94%
+3% YoY</a:t>
            </a:r>
          </a:p>
        </p:txBody>
      </p:sp>
      <p:sp>
        <p:nvSpPr>
          <p:cNvPr id="14" name="Shape 14"/>
          <p:cNvSpPr/>
          <p:nvPr/>
        </p:nvSpPr>
        <p:spPr>
          <a:xfrm>
            <a:off x="18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40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6200000" y="2600000"/>
            <a:ext cx="300000" cy="300000"/>
          </a:xfrm>
          <a:prstGeom prst="ellipse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8400000" y="2600000"/>
            <a:ext cx="300000" cy="300000"/>
          </a:xfrm>
          <a:prstGeom prst="ellipse">
            <a:avLst/>
          </a:prstGeom>
          <a:solidFill>
            <a:srgbClr val="70AD47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Summary &amp; Next Steps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Completed: Research, Design, Initial Development</a:t>
            </a:r>
          </a:p>
          <a:p>
            <a:pPr lvl="0"/>
            <a:r>
              <a:rPr lang="en-US" sz="2400" b="0" i="0" dirty="0"/>
              <a:t>In Progress: Sprint 3 Development</a:t>
            </a:r>
          </a:p>
          <a:p>
            <a:pPr lvl="0"/>
            <a:r>
              <a:rPr lang="en-US" sz="2400" b="0" i="0" dirty="0"/>
              <a:t>Next: QA Testing Phase (Q4 2024)</a:t>
            </a:r>
          </a:p>
          <a:p>
            <a:pPr lvl="0"/>
            <a:r>
              <a:rPr lang="en-US" sz="2400" b="0" i="0" dirty="0"/>
              <a:t>Launch Target: Q1 2025</a:t>
            </a:r>
          </a:p>
          <a:p>
            <a:pPr lvl="0"/>
            <a:r>
              <a:rPr lang="en-US" sz="2400" b="0" i="0" dirty="0"/>
              <a:t>Key Risks: Resource constraints, Timeline pressure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2025-12-08T05:05:16Z</dcterms:created>
  <dcterms:modified xsi:type="dcterms:W3CDTF">2025-12-08T05:05:16Z</dcterms:modified>
</cp:coreProperties>
</file>