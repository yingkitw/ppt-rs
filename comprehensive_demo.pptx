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handoutMasters/handoutMaster1.xml" ContentType="application/vnd.openxmlformats-officedocument.presentationml.handoutMaster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6"/>
  </p:notesMasterIdLst>
  <p:handoutMasterIdLst>
    <p:handoutMasterId r:id="rId47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4" d="100"/>
          <a:sy n="64" d="100"/>
        </p:scale>
        <p:origin x="-1392" y="-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Relationship Id="rId8" Type="http://schemas.openxmlformats.org/officeDocument/2006/relationships/slide" Target="slides/slide7.xml"/>
<Relationship Id="rId9" Type="http://schemas.openxmlformats.org/officeDocument/2006/relationships/slide" Target="slides/slide8.xml"/>
<Relationship Id="rId10" Type="http://schemas.openxmlformats.org/officeDocument/2006/relationships/slide" Target="slides/slide9.xml"/>
<Relationship Id="rId11" Type="http://schemas.openxmlformats.org/officeDocument/2006/relationships/slide" Target="slides/slide10.xml"/>
<Relationship Id="rId12" Type="http://schemas.openxmlformats.org/officeDocument/2006/relationships/slide" Target="slides/slide11.xml"/>
<Relationship Id="rId13" Type="http://schemas.openxmlformats.org/officeDocument/2006/relationships/slide" Target="slides/slide12.xml"/>
<Relationship Id="rId14" Type="http://schemas.openxmlformats.org/officeDocument/2006/relationships/slide" Target="slides/slide13.xml"/>
<Relationship Id="rId15" Type="http://schemas.openxmlformats.org/officeDocument/2006/relationships/slide" Target="slides/slide14.xml"/>
<Relationship Id="rId16" Type="http://schemas.openxmlformats.org/officeDocument/2006/relationships/slide" Target="slides/slide15.xml"/>
<Relationship Id="rId17" Type="http://schemas.openxmlformats.org/officeDocument/2006/relationships/slide" Target="slides/slide16.xml"/>
<Relationship Id="rId18" Type="http://schemas.openxmlformats.org/officeDocument/2006/relationships/slide" Target="slides/slide17.xml"/>
<Relationship Id="rId19" Type="http://schemas.openxmlformats.org/officeDocument/2006/relationships/slide" Target="slides/slide18.xml"/>
<Relationship Id="rId20" Type="http://schemas.openxmlformats.org/officeDocument/2006/relationships/slide" Target="slides/slide19.xml"/>
<Relationship Id="rId21" Type="http://schemas.openxmlformats.org/officeDocument/2006/relationships/slide" Target="slides/slide20.xml"/>
<Relationship Id="rId22" Type="http://schemas.openxmlformats.org/officeDocument/2006/relationships/slide" Target="slides/slide21.xml"/>
<Relationship Id="rId23" Type="http://schemas.openxmlformats.org/officeDocument/2006/relationships/slide" Target="slides/slide22.xml"/>
<Relationship Id="rId24" Type="http://schemas.openxmlformats.org/officeDocument/2006/relationships/slide" Target="slides/slide23.xml"/>
<Relationship Id="rId25" Type="http://schemas.openxmlformats.org/officeDocument/2006/relationships/slide" Target="slides/slide24.xml"/>
<Relationship Id="rId26" Type="http://schemas.openxmlformats.org/officeDocument/2006/relationships/slide" Target="slides/slide25.xml"/>
<Relationship Id="rId27" Type="http://schemas.openxmlformats.org/officeDocument/2006/relationships/slide" Target="slides/slide26.xml"/>
<Relationship Id="rId28" Type="http://schemas.openxmlformats.org/officeDocument/2006/relationships/slide" Target="slides/slide27.xml"/>
<Relationship Id="rId29" Type="http://schemas.openxmlformats.org/officeDocument/2006/relationships/slide" Target="slides/slide28.xml"/>
<Relationship Id="rId30" Type="http://schemas.openxmlformats.org/officeDocument/2006/relationships/slide" Target="slides/slide29.xml"/>
<Relationship Id="rId31" Type="http://schemas.openxmlformats.org/officeDocument/2006/relationships/slide" Target="slides/slide30.xml"/>
<Relationship Id="rId32" Type="http://schemas.openxmlformats.org/officeDocument/2006/relationships/slide" Target="slides/slide31.xml"/>
<Relationship Id="rId33" Type="http://schemas.openxmlformats.org/officeDocument/2006/relationships/slide" Target="slides/slide32.xml"/>
<Relationship Id="rId34" Type="http://schemas.openxmlformats.org/officeDocument/2006/relationships/slide" Target="slides/slide33.xml"/>
<Relationship Id="rId35" Type="http://schemas.openxmlformats.org/officeDocument/2006/relationships/slide" Target="slides/slide34.xml"/>
<Relationship Id="rId36" Type="http://schemas.openxmlformats.org/officeDocument/2006/relationships/slide" Target="slides/slide35.xml"/>
<Relationship Id="rId37" Type="http://schemas.openxmlformats.org/officeDocument/2006/relationships/slide" Target="slides/slide36.xml"/>
<Relationship Id="rId38" Type="http://schemas.openxmlformats.org/officeDocument/2006/relationships/slide" Target="slides/slide37.xml"/>
<Relationship Id="rId39" Type="http://schemas.openxmlformats.org/officeDocument/2006/relationships/slide" Target="slides/slide38.xml"/>
<Relationship Id="rId40" Type="http://schemas.openxmlformats.org/officeDocument/2006/relationships/slide" Target="slides/slide39.xml"/>
<Relationship Id="rId41" Type="http://schemas.openxmlformats.org/officeDocument/2006/relationships/slide" Target="slides/slide40.xml"/>
<Relationship Id="rId42" Type="http://schemas.openxmlformats.org/officeDocument/2006/relationships/slide" Target="slides/slide41.xml"/>
<Relationship Id="rId43" Type="http://schemas.openxmlformats.org/officeDocument/2006/relationships/slide" Target="slides/slide42.xml"/>
<Relationship Id="rId44" Type="http://schemas.openxmlformats.org/officeDocument/2006/relationships/slide" Target="slides/slide43.xml"/>
<Relationship Id="rId45" Type="http://schemas.openxmlformats.org/officeDocument/2006/relationships/slide" Target="slides/slide44.xml"/>
<Relationship Id="rId46" Type="http://schemas.openxmlformats.org/officeDocument/2006/relationships/notesMaster" Target="notesMasters/notesMaster1.xml"/>
<Relationship Id="rId47" Type="http://schemas.openxmlformats.org/officeDocument/2006/relationships/handoutMaster" Target="handoutMasters/handoutMaster1.xml"/>
<Relationship Id="rId48" Type="http://schemas.openxmlformats.org/officeDocument/2006/relationships/presProps" Target="presProps.xml"/>
<Relationship Id="rId49" Type="http://schemas.openxmlformats.org/officeDocument/2006/relationships/viewProps" Target="viewProps.xml"/>
<Relationship Id="rId50" Type="http://schemas.openxmlformats.org/officeDocument/2006/relationships/theme" Target="theme/theme1.xml"/>
<Relationship Id="rId51" Type="http://schemas.openxmlformats.org/officeDocument/2006/relationships/tableStyles" Target="tableStyles.xml"/>
</Relationships>
</file>

<file path=ppt/handoutMasters/_rels/handout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3.xml"/>
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>
            <a:spLocks noGrp="1"/>
          </p:cNvSpPr>
          <p:nvPr>
            <p:ph type="hdr"/>
          </p:nvPr>
        </p:nvSpPr>
        <p:spPr/>
        <p:txBody>
          <a:bodyPr/>
          <a:lstStyle/>
          <a:p>
            <a:r>
              <a:t>Q1 2025 Strategy Review</a:t>
            </a:r>
          </a:p>
        </p:txBody>
      </p:sp>
      <p:sp>
        <p:nvSpPr>
          <p:cNvPr id="3" name="Footer"/>
          <p:cNvSpPr>
            <a:spLocks noGrp="1"/>
          </p:cNvSpPr>
          <p:nvPr>
            <p:ph type="ftr"/>
          </p:nvPr>
        </p:nvSpPr>
        <p:spPr/>
        <p:txBody>
          <a:bodyPr/>
          <a:lstStyle/>
          <a:p>
            <a:r>
              <a:t>Confidential - Internal Use Only</a:t>
            </a:r>
          </a:p>
        </p:txBody>
      </p:sp>
      <p:sp>
        <p:nvSpPr>
          <p:cNvPr id="4" name="Date"/>
          <p:cNvSpPr>
            <a:spLocks noGrp="1"/>
          </p:cNvSpPr>
          <p:nvPr>
            <p:ph type="dt"/>
          </p:nvPr>
        </p:nvSpPr>
        <p:spPr/>
        <p:txBody>
          <a:bodyPr/>
          <a:lstStyle/>
          <a:p>
            <a:fld id="{B6F15528-F159-4107-2D14-000000000000}" type="datetimeFigureOut">
              <a:t/>
            </a:fld>
            <a:endParaRPr/>
          </a:p>
        </p:txBody>
      </p:sp>
      <p:sp>
        <p:nvSpPr>
          <p:cNvPr id="5" name="Slide Number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fld id="{B6F15528-F159-4107-2D14-000000000001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
<Relationship Id="rId1" Type="http://schemas.openxmlformats.org/officeDocument/2006/relationships/slide" Target="../slides/slide30.xml"/>
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1. Emphasize the progress made
2. Highlight key achievements
3. Address any concerns about timeline
4. Open for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E}" type="slidenum">
              <a:rPr lang="en-US"/>
              <a:t>30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828800"/>
            <a:ext cx="6096000" cy="18288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/>
          </p:nvPr>
        </p:nvSpPr>
        <p:spPr>
          <a:xfrm>
            <a:off x="1524000" y="3657600"/>
            <a:ext cx="6096000" cy="9144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4025400" cy="4525963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4661400" y="1600200"/>
            <a:ext cx="4025400" cy="4525963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600200"/>
            <a:ext cx="8229600" cy="18288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body" idx="1"/>
          </p:nvPr>
        </p:nvSpPr>
        <p:spPr>
          <a:xfrm>
            <a:off x="457200" y="3657600"/>
            <a:ext cx="8229600" cy="13716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hf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00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200000"/>
            <a:ext cx="8229600" cy="5000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slideLayout" Target="../slideLayouts/slideLayout7.xml"/>
<Relationship Id="rId8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/>
          </p:nvPr>
        </p:nvSpPr>
        <p:spPr>
          <a:xfrm>
            <a:off x="312420" y="213360"/>
            <a:ext cx="8519760" cy="365125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Confidential - Internal Use Only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sz="half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</p:spPr>
        <p:txBody>
          <a:bodyPr/>
          <a:lstStyle/>
          <a:p>
            <a:fld id="{B6F15528-F159-4107-2D14-000000000000}" type="datetimeFigureOut">
              <a:rPr lang="en-US" sz="1200"/>
              <a:t>6/1/2026</a:t>
            </a:fld>
            <a:endParaRPr lang="en-US" sz="1200"/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/>
          </p:nvPr>
        </p:nvSpPr>
        <p:spPr>
          <a:xfrm>
            <a:off x="8610600" y="6356350"/>
            <a:ext cx="533400" cy="365125"/>
          </a:xfrm>
          <a:prstGeom prst="rect">
            <a:avLst/>
          </a:prstGeom>
          <a:noFill/>
        </p:spPr>
        <p:txBody>
          <a:bodyPr/>
          <a:lstStyle/>
          <a:p>
            <a:fld id="{B6F15528-F159-4107-2D14-000000000001}" type="slidenum">
              <a:rPr lang="en-US" sz="1200"/>
              <a:t>‹#›</a:t>
            </a:fld>
            <a:endParaRPr lang="en-US" sz="12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6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7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3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5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2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notesSlide" Target="../notesSlides/notesSlide1.xml"/>
</Relationships>
</file>

<file path=ppt/slides/_rels/slide3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Normal text (default)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Bold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Italic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Underlined content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font size (28pt)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200" b="1" i="0" dirty="0"/>
              <a:t>Large content area for emphasis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Perfect for key messages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Left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Right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Row="1"/>
              <a:tblGrid>
                <a:gridCol w="1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Header 1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2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3</a:t>
                      </a:r>
                    </a:p>
                  </a:txBody>
                  <a:tcPr>
                    <a:solidFill>
                      <a:srgbClr val="8064A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Bold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Normal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Colored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Red BG</a:t>
                      </a:r>
                    </a:p>
                  </a:txBody>
                  <a:tcPr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Green BG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Blue BG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Row 3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3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Row 3 Col 3</a:t>
                      </a:r>
                    </a:p>
                  </a:txBody>
                  <a:tcPr>
                    <a:solidFill>
                      <a:srgbClr val="F796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Bar Chart: Compare categories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Line Chart: Show trends over time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2011680" cy="100584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200" dirty="0">
                <a:solidFill>
                  <a:srgbClr val="FFFFFF"/>
                </a:solidFill>
              </a:rPr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17520" y="1600200"/>
            <a:ext cx="2011680" cy="100584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114" dirty="0">
                <a:solidFill>
                  <a:srgbClr val="000000"/>
                </a:solidFill>
              </a:rPr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486400" y="1600200"/>
            <a:ext cx="2011680" cy="100584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114" dirty="0">
                <a:solidFill>
                  <a:srgbClr val="FFFFFF"/>
                </a:solidFill>
              </a:rPr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463040" y="3017520"/>
            <a:ext cx="1463040" cy="118872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520" dirty="0">
                <a:solidFill>
                  <a:srgbClr val="FFFFFF"/>
                </a:solidFill>
              </a:rPr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23360" y="3017520"/>
            <a:ext cx="1463040" cy="118872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880" dirty="0">
                <a:solidFill>
                  <a:srgbClr val="000000"/>
                </a:solidFill>
              </a:rPr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Gradient Fills - Multiple Directions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2468880" cy="1188720"/>
          </a:xfrm>
          <a:prstGeom prst="rect">
            <a:avLst/>
          </a:prstGeom>
          <a:gradFill>
            <a:gsLst>
              <a:gs pos="0">
                <a:srgbClr val="1565C0"/>
              </a:gs>
              <a:gs pos="100000">
                <a:srgbClr val="42A5F5"/>
              </a:gs>
            </a:gsLst>
            <a:lin ang="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600" dirty="0">
                <a:solidFill>
                  <a:srgbClr val="000000"/>
                </a:solidFill>
              </a:rPr>
              <a:t>Horizontal</a:t>
            </a:r>
          </a:p>
        </p:txBody>
      </p:sp>
      <p:sp>
        <p:nvSpPr>
          <p:cNvPr id="11" name="Shape 11"/>
          <p:cNvSpPr/>
          <p:nvPr/>
        </p:nvSpPr>
        <p:spPr>
          <a:xfrm>
            <a:off x="3200400" y="1600200"/>
            <a:ext cx="2468880" cy="1188720"/>
          </a:xfrm>
          <a:prstGeom prst="rect">
            <a:avLst/>
          </a:prstGeom>
          <a:gradFill>
            <a:gsLst>
              <a:gs pos="0">
                <a:srgbClr val="2E7D32"/>
              </a:gs>
              <a:gs pos="100000">
                <a:srgbClr val="81C784"/>
              </a:gs>
            </a:gsLst>
            <a:lin ang="540000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500" dirty="0">
                <a:solidFill>
                  <a:srgbClr val="000000"/>
                </a:solidFill>
              </a:rPr>
              <a:t>Vertical</a:t>
            </a:r>
          </a:p>
        </p:txBody>
      </p:sp>
      <p:sp>
        <p:nvSpPr>
          <p:cNvPr id="12" name="Shape 12"/>
          <p:cNvSpPr/>
          <p:nvPr/>
        </p:nvSpPr>
        <p:spPr>
          <a:xfrm>
            <a:off x="5943600" y="1600200"/>
            <a:ext cx="2468880" cy="1188720"/>
          </a:xfrm>
          <a:prstGeom prst="roundRect">
            <a:avLst/>
          </a:prstGeom>
          <a:gradFill>
            <a:gsLst>
              <a:gs pos="0">
                <a:srgbClr val="C62828"/>
              </a:gs>
              <a:gs pos="100000">
                <a:srgbClr val="EF9A9A"/>
              </a:gs>
            </a:gsLst>
            <a:lin ang="270000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500" dirty="0">
                <a:solidFill>
                  <a:srgbClr val="000000"/>
                </a:solidFill>
              </a:rPr>
              <a:t>Diagonal</a:t>
            </a:r>
          </a:p>
        </p:txBody>
      </p:sp>
      <p:sp>
        <p:nvSpPr>
          <p:cNvPr id="13" name="Shape 13"/>
          <p:cNvSpPr/>
          <p:nvPr/>
        </p:nvSpPr>
        <p:spPr>
          <a:xfrm>
            <a:off x="1828800" y="3200400"/>
            <a:ext cx="2468880" cy="1188720"/>
          </a:xfrm>
          <a:prstGeom prst="ellipse">
            <a:avLst/>
          </a:prstGeom>
          <a:gradFill>
            <a:gsLst>
              <a:gs pos="0">
                <a:srgbClr val="FF6F00"/>
              </a:gs>
              <a:gs pos="50000">
                <a:srgbClr val="FFC107"/>
              </a:gs>
              <a:gs pos="100000">
                <a:srgbClr val="FFEB3B"/>
              </a:gs>
            </a:gsLst>
            <a:lin ang="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5142" dirty="0">
                <a:solidFill>
                  <a:srgbClr val="000000"/>
                </a:solidFill>
              </a:rPr>
              <a:t>3-Color</a:t>
            </a:r>
          </a:p>
        </p:txBody>
      </p:sp>
      <p:sp>
        <p:nvSpPr>
          <p:cNvPr id="14" name="Shape 14"/>
          <p:cNvSpPr/>
          <p:nvPr/>
        </p:nvSpPr>
        <p:spPr>
          <a:xfrm>
            <a:off x="4754880" y="3200400"/>
            <a:ext cx="2468880" cy="1188720"/>
          </a:xfrm>
          <a:prstGeom prst="roundRect">
            <a:avLst/>
          </a:prstGeom>
          <a:gradFill>
            <a:gsLst>
              <a:gs pos="0">
                <a:srgbClr val="7B1FA2"/>
              </a:gs>
              <a:gs pos="100000">
                <a:srgbClr val="E1BEE7"/>
              </a:gs>
            </a:gsLst>
            <a:lin ang="810000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600" dirty="0">
                <a:solidFill>
                  <a:srgbClr val="000000"/>
                </a:solidFill>
              </a:rPr>
              <a:t>135° Angle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Transparency Effects - Overlapping Shapes</a:t>
            </a:r>
          </a:p>
        </p:txBody>
      </p:sp>
      <p:sp>
        <p:nvSpPr>
          <p:cNvPr id="10" name="Shape 10"/>
          <p:cNvSpPr/>
          <p:nvPr/>
        </p:nvSpPr>
        <p:spPr>
          <a:xfrm>
            <a:off x="1005840" y="1828800"/>
            <a:ext cx="3017520" cy="201168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058" dirty="0">
                <a:solidFill>
                  <a:srgbClr val="FFFFFF"/>
                </a:solidFill>
              </a:rPr>
              <a:t>Base (100%)</a:t>
            </a:r>
          </a:p>
        </p:txBody>
      </p:sp>
      <p:sp>
        <p:nvSpPr>
          <p:cNvPr id="11" name="Shape 11"/>
          <p:cNvSpPr/>
          <p:nvPr/>
        </p:nvSpPr>
        <p:spPr>
          <a:xfrm>
            <a:off x="2011680" y="2194560"/>
            <a:ext cx="2468880" cy="1463040"/>
          </a:xfrm>
          <a:prstGeom prst="rect">
            <a:avLst/>
          </a:prstGeom>
          <a:solidFill>
            <a:srgbClr val="F44336"/>
          </a:solidFill>
          <a:ln w="25400">
            <a:solidFill>
              <a:srgbClr val="B71C1C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400" dirty="0">
                <a:solidFill>
                  <a:srgbClr val="FFFFFF"/>
                </a:solidFill>
              </a:rPr>
              <a:t>25% Transparent</a:t>
            </a:r>
          </a:p>
        </p:txBody>
      </p:sp>
      <p:sp>
        <p:nvSpPr>
          <p:cNvPr id="12" name="Shape 12"/>
          <p:cNvSpPr/>
          <p:nvPr/>
        </p:nvSpPr>
        <p:spPr>
          <a:xfrm>
            <a:off x="4480560" y="1828800"/>
            <a:ext cx="2468880" cy="2011680"/>
          </a:xfrm>
          <a:prstGeom prst="ellipse">
            <a:avLst/>
          </a:prstGeom>
          <a:solidFill>
            <a:srgbClr val="4CAF50"/>
          </a:solidFill>
          <a:ln w="25400">
            <a:solidFill>
              <a:srgbClr val="1B5E20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400" dirty="0">
                <a:solidFill>
                  <a:srgbClr val="000000"/>
                </a:solidFill>
              </a:rPr>
              <a:t>50% Transparent</a:t>
            </a:r>
          </a:p>
        </p:txBody>
      </p:sp>
      <p:sp>
        <p:nvSpPr>
          <p:cNvPr id="13" name="Shape 13"/>
          <p:cNvSpPr/>
          <p:nvPr/>
        </p:nvSpPr>
        <p:spPr>
          <a:xfrm>
            <a:off x="5486400" y="2468880"/>
            <a:ext cx="2468880" cy="1463040"/>
          </a:xfrm>
          <a:prstGeom prst="roundRect">
            <a:avLst/>
          </a:prstGeom>
          <a:solidFill>
            <a:srgbClr val="FF9800"/>
          </a:solidFill>
          <a:ln w="25400">
            <a:solidFill>
              <a:srgbClr val="E65100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400" dirty="0">
                <a:solidFill>
                  <a:srgbClr val="000000"/>
                </a:solidFill>
              </a:rPr>
              <a:t>75% Transparent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Styled Connectors - Types, Arrows, Dashes</a:t>
            </a:r>
          </a:p>
        </p:txBody>
      </p:sp>
      <p:sp>
        <p:nvSpPr>
          <p:cNvPr id="100" name="Shape 100"/>
          <p:cNvSpPr/>
          <p:nvPr/>
        </p:nvSpPr>
        <p:spPr>
          <a:xfrm>
            <a:off x="457200" y="1828800"/>
            <a:ext cx="1828800" cy="822960"/>
          </a:xfrm>
          <a:prstGeom prst="round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101" name="Shape 101"/>
          <p:cNvSpPr/>
          <p:nvPr/>
        </p:nvSpPr>
        <p:spPr>
          <a:xfrm>
            <a:off x="3474720" y="1828800"/>
            <a:ext cx="1828800" cy="822960"/>
          </a:xfrm>
          <a:prstGeom prst="roundRect">
            <a:avLst/>
          </a:prstGeom>
          <a:solidFill>
            <a:srgbClr val="2E7D32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FFFFFF"/>
                </a:solidFill>
              </a:rPr>
              <a:t>Process</a:t>
            </a:r>
          </a:p>
        </p:txBody>
      </p:sp>
      <p:sp>
        <p:nvSpPr>
          <p:cNvPr id="102" name="Shape 102"/>
          <p:cNvSpPr/>
          <p:nvPr/>
        </p:nvSpPr>
        <p:spPr>
          <a:xfrm>
            <a:off x="6492240" y="1828800"/>
            <a:ext cx="1828800" cy="822960"/>
          </a:xfrm>
          <a:prstGeom prst="roundRect">
            <a:avLst/>
          </a:prstGeom>
          <a:solidFill>
            <a:srgbClr val="C62828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End</a:t>
            </a:r>
          </a:p>
        </p:txBody>
      </p:sp>
      <p:sp>
        <p:nvSpPr>
          <p:cNvPr id="103" name="Shape 103"/>
          <p:cNvSpPr/>
          <p:nvPr/>
        </p:nvSpPr>
        <p:spPr>
          <a:xfrm>
            <a:off x="1005840" y="3200400"/>
            <a:ext cx="1463040" cy="822960"/>
          </a:xfrm>
          <a:prstGeom prst="ellipse">
            <a:avLst/>
          </a:prstGeom>
          <a:solidFill>
            <a:srgbClr val="7B1FA2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04" name="Shape 104"/>
          <p:cNvSpPr/>
          <p:nvPr/>
        </p:nvSpPr>
        <p:spPr>
          <a:xfrm>
            <a:off x="4023360" y="3200400"/>
            <a:ext cx="1463040" cy="822960"/>
          </a:xfrm>
          <a:prstGeom prst="ellipse">
            <a:avLst/>
          </a:prstGeom>
          <a:solidFill>
            <a:srgbClr val="00838F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05" name="Shape 105"/>
          <p:cNvSpPr/>
          <p:nvPr/>
        </p:nvSpPr>
        <p:spPr>
          <a:xfrm>
            <a:off x="7040880" y="3200400"/>
            <a:ext cx="1463040" cy="822960"/>
          </a:xfrm>
          <a:prstGeom prst="ellipse">
            <a:avLst/>
          </a:prstGeom>
          <a:solidFill>
            <a:srgbClr val="EF6C0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000000"/>
                </a:solidFill>
              </a:rPr>
              <a:t>C</a:t>
            </a:r>
          </a:p>
        </p:txBody>
      </p:sp>
      <p:cxnSp>
        <p:nvCxnSpPr>
          <p:cNvPr id="56" name="Connector 56"/>
          <p:cNvCxnSpPr>
</p:cNvCxnSpPr>
          <p:nvPr/>
        </p:nvCxnSpPr>
        <p:spPr>
          <a:xfrm>
            <a:off x="2300000" y="2200000"/>
            <a:ext cx="1200000" cy="0"/>
          </a:xfrm>
          <a:prstGeom prst="straightConnector1">
            <a:avLst/>
          </a:prstGeom>
          <a:ln w="25400">
            <a:solidFill>
              <a:srgbClr val="1565C0"/>
            </a:solidFill>
            <a:prstDash val="solid"/>
            <a:tailEnd type="triangle" w="lg" len="lg"/>
          </a:ln>
        </p:spPr>
      </p:cxnSp>
      <p:cxnSp>
        <p:nvCxnSpPr>
          <p:cNvPr id="57" name="Connector 57"/>
          <p:cNvCxnSpPr>
</p:cNvCxnSpPr>
          <p:nvPr/>
        </p:nvCxnSpPr>
        <p:spPr>
          <a:xfrm>
            <a:off x="5300000" y="2200000"/>
            <a:ext cx="1200000" cy="0"/>
          </a:xfrm>
          <a:prstGeom prst="bentConnector3">
            <a:avLst/>
          </a:prstGeom>
          <a:ln w="38100">
            <a:solidFill>
              <a:srgbClr val="2E7D32"/>
            </a:solidFill>
            <a:prstDash val="dash"/>
            <a:tailEnd type="stealth" w="med" len="med"/>
          </a:ln>
        </p:spPr>
      </p:cxnSp>
      <p:cxnSp>
        <p:nvCxnSpPr>
          <p:cNvPr id="58" name="Connector 58"/>
          <p:cNvCxnSpPr>
</p:cNvCxnSpPr>
          <p:nvPr/>
        </p:nvCxnSpPr>
        <p:spPr>
          <a:xfrm>
            <a:off x="2500000" y="3600000"/>
            <a:ext cx="1500000" cy="0"/>
          </a:xfrm>
          <a:prstGeom prst="curvedConnector3">
            <a:avLst/>
          </a:prstGeom>
          <a:ln w="19050">
            <a:solidFill>
              <a:srgbClr val="7B1FA2"/>
            </a:solidFill>
            <a:prstDash val="dashDot"/>
            <a:headEnd type="oval" w="med" len="med"/>
            <a:tailEnd type="diamond" w="med" len="med"/>
          </a:ln>
        </p:spPr>
      </p:cxnSp>
      <p:cxnSp>
        <p:nvCxnSpPr>
          <p:cNvPr id="59" name="Connector 59"/>
          <p:cNvCxnSpPr>
</p:cNvCxnSpPr>
          <p:nvPr/>
        </p:nvCxnSpPr>
        <p:spPr>
          <a:xfrm>
            <a:off x="5500000" y="3600000"/>
            <a:ext cx="1500000" cy="0"/>
          </a:xfrm>
          <a:prstGeom prst="straightConnector1">
            <a:avLst/>
          </a:prstGeom>
          <a:ln w="12700">
            <a:solidFill>
              <a:srgbClr val="00838F"/>
            </a:solidFill>
            <a:prstDash val="dot"/>
            <a:tailEnd type="arrow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Effects: Shadow (Outer Shadow)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2011680" cy="201168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463040"/>
            <a:ext cx="2468880" cy="18288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463040"/>
            <a:ext cx="2286000" cy="18288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2E75B5"/>
                </a:solidFill>
              </a:rPr>
              <a:t>Image Effects: Reflection (Mirror Effect)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88720"/>
            <a:ext cx="2194560" cy="2194560"/>
          </a:xfrm>
          <a:prstGeom prst="rect">
            <a:avLst/>
          </a:prstGeom>
          <a:effectLst>
            <a:reflection blurRad="6350" stA="50000" endA="300" endPos="35000" dir="5400000" sy="-100000" algn="bl" rotWithShape="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1188720"/>
            <a:ext cx="2834640" cy="2011680"/>
          </a:xfrm>
          <a:prstGeom prst="rect">
            <a:avLst/>
          </a:prstGeom>
          <a:effectLst>
            <a:reflection blurRad="6350" stA="50000" endA="300" endPos="35000" dir="5400000" sy="-100000" algn="bl" rotWithShape="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188720"/>
            <a:ext cx="2377440" cy="2011680"/>
          </a:xfrm>
          <a:prstGeom prst="rect">
            <a:avLst/>
          </a:prstGeom>
          <a:effectLst>
            <a:reflection blurRad="6350" stA="50000" endA="300" endPos="35000" dir="5400000" sy="-100000" algn="bl" rotWithShape="0"/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70AD47"/>
                </a:solidFill>
              </a:rPr>
              <a:t>Image Cropping: All Sides, Top/Bottom, Left/Right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rcRect l="10000" t="10000" r="10000" b="10000"/>
          <a:stretch>
            <a:fillRect/>
          </a:stretch>
        </p:blipFill>
        <p:spPr>
          <a:xfrm>
            <a:off x="1188720" y="1828800"/>
            <a:ext cx="1828800" cy="1828800"/>
          </a:xfrm>
          <a:prstGeom prst="rect">
            <a:avLst/>
          </a:prstGeom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rcRect t="20000" b="20000"/>
          <a:stretch>
            <a:fillRect/>
          </a:stretch>
        </p:blipFill>
        <p:spPr>
          <a:xfrm>
            <a:off x="3474720" y="1828800"/>
            <a:ext cx="3474720" cy="1463040"/>
          </a:xfrm>
          <a:prstGeom prst="rect">
            <a:avLst/>
          </a:prstGeom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rcRect l="15000" r="15000"/>
          <a:stretch>
            <a:fillRect/>
          </a:stretch>
        </p:blipFill>
        <p:spPr>
          <a:xfrm>
            <a:off x="7223760" y="1828800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C55A11"/>
                </a:solidFill>
              </a:rPr>
              <a:t>Image Effects: Glow (Golden Aura)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9B59B6"/>
                </a:solidFill>
              </a:rPr>
              <a:t>Image Effects: Soft Edges (Feathered)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softEdge rad="50800"/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E74C3C"/>
                </a:solidFill>
              </a:rPr>
              <a:t>Image Effects: Inner Shadow (Depth)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3498DB"/>
                </a:solidFill>
              </a:rPr>
              <a:t>Image Effects: Blur (Artistic)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blur rad="3810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blur rad="3810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blur rad="38100"/>
          </a:effec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6A085"/>
                </a:solidFill>
              </a:rPr>
              <a:t>Combined Effects: Shadow + Reflection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r="5400000" sy="-100000" algn="bl" rotWithShape="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r="5400000" sy="-100000" algn="bl" rotWithShape="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r="5400000" sy="-100000" algn="bl" rotWithShape="0"/>
          </a:effec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Financial Report - Advanced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000000"/>
        </p:xfrm>
        <a:graphic>
          <a:graphicData uri="http://schemas.openxmlformats.org/drawingml/2006/table">
            <a:tbl>
              <a:tblPr firstRow="1" bandRow="1"/>
              <a:tblGrid>
                <a:gridCol w="2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 sz="1400">
                          <a:solidFill>
                            <a:srgbClr val="FFFFFF"/>
                          </a:solidFill>
                        </a:rPr>
                        <a:t>Q1 2024 Financial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Expenses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Profit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Product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$800,000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$890,000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$570,000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$2,140,000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$770,000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006100"/>
                          </a:solidFill>
                        </a:rPr>
                        <a:t>$1,370,000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4472C4"/>
                </a:solidFill>
              </a:rPr>
              <a:t>Pricing Comparison Matrix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600000"/>
          <a:ext cx="6500000" cy="2400000"/>
        </p:xfrm>
        <a:graphic>
          <a:graphicData uri="http://schemas.openxmlformats.org/drawingml/2006/table">
            <a:tbl>
              <a:tblPr firstRow="1" bandRow="1"/>
              <a:tblGrid>
                <a:gridCol w="2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Basic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Enterprise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24/7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Dedicated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API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 + Priority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Price/month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Development Process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274320" y="2011680"/>
            <a:ext cx="1371600" cy="82296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701" dirty="0">
                <a:solidFill>
                  <a:srgbClr val="FFFFFF"/>
                </a:solidFill>
              </a:rPr>
              <a:t>1. Research</a:t>
            </a:r>
          </a:p>
        </p:txBody>
      </p:sp>
      <p:sp>
        <p:nvSpPr>
          <p:cNvPr id="11" name="Shape 11"/>
          <p:cNvSpPr/>
          <p:nvPr/>
        </p:nvSpPr>
        <p:spPr>
          <a:xfrm>
            <a:off x="1828800" y="2194560"/>
            <a:ext cx="365760" cy="36576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2" name="Shape 12"/>
          <p:cNvSpPr/>
          <p:nvPr/>
        </p:nvSpPr>
        <p:spPr>
          <a:xfrm>
            <a:off x="2286000" y="2011680"/>
            <a:ext cx="1371600" cy="82296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079" dirty="0">
                <a:solidFill>
                  <a:srgbClr val="000000"/>
                </a:solidFill>
              </a:rPr>
              <a:t>2. Design</a:t>
            </a:r>
          </a:p>
        </p:txBody>
      </p:sp>
      <p:sp>
        <p:nvSpPr>
          <p:cNvPr id="13" name="Shape 13"/>
          <p:cNvSpPr/>
          <p:nvPr/>
        </p:nvSpPr>
        <p:spPr>
          <a:xfrm>
            <a:off x="3840480" y="2194560"/>
            <a:ext cx="365760" cy="36576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4" name="Shape 14"/>
          <p:cNvSpPr/>
          <p:nvPr/>
        </p:nvSpPr>
        <p:spPr>
          <a:xfrm>
            <a:off x="4297680" y="2011680"/>
            <a:ext cx="1371600" cy="82296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872" dirty="0">
                <a:solidFill>
                  <a:srgbClr val="000000"/>
                </a:solidFill>
              </a:rPr>
              <a:t>3. Develop</a:t>
            </a:r>
          </a:p>
        </p:txBody>
      </p:sp>
      <p:sp>
        <p:nvSpPr>
          <p:cNvPr id="15" name="Shape 15"/>
          <p:cNvSpPr/>
          <p:nvPr/>
        </p:nvSpPr>
        <p:spPr>
          <a:xfrm>
            <a:off x="5760720" y="2194560"/>
            <a:ext cx="365760" cy="36576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6" name="Shape 16"/>
          <p:cNvSpPr/>
          <p:nvPr/>
        </p:nvSpPr>
        <p:spPr>
          <a:xfrm>
            <a:off x="6309360" y="2011680"/>
            <a:ext cx="1371600" cy="82296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079" dirty="0">
                <a:solidFill>
                  <a:srgbClr val="000000"/>
                </a:solidFill>
              </a:rPr>
              <a:t>4. Deploy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Organization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3474720" y="1371600"/>
            <a:ext cx="2011680" cy="640080"/>
          </a:xfrm>
          <a:prstGeom prst="roundRect">
            <a:avLst/>
          </a:prstGeom>
          <a:solidFill>
            <a:srgbClr val="1F4E79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130" dirty="0">
                <a:solidFill>
                  <a:srgbClr val="FFFFFF"/>
                </a:solidFill>
              </a:rPr>
              <a:t>CEO</a:t>
            </a:r>
          </a:p>
        </p:txBody>
      </p:sp>
      <p:sp>
        <p:nvSpPr>
          <p:cNvPr id="11" name="Shape 11"/>
          <p:cNvSpPr/>
          <p:nvPr/>
        </p:nvSpPr>
        <p:spPr>
          <a:xfrm>
            <a:off x="4480560" y="2011680"/>
            <a:ext cx="91440" cy="36576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2" name="Shape 12"/>
          <p:cNvSpPr/>
          <p:nvPr/>
        </p:nvSpPr>
        <p:spPr>
          <a:xfrm>
            <a:off x="1920240" y="2377440"/>
            <a:ext cx="5120640" cy="4572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3" name="Shape 13"/>
          <p:cNvSpPr/>
          <p:nvPr/>
        </p:nvSpPr>
        <p:spPr>
          <a:xfrm>
            <a:off x="1005840" y="2560320"/>
            <a:ext cx="1828800" cy="4572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878" dirty="0">
                <a:solidFill>
                  <a:srgbClr val="FFFFFF"/>
                </a:solidFill>
              </a:rPr>
              <a:t>CTO</a:t>
            </a:r>
          </a:p>
        </p:txBody>
      </p:sp>
      <p:sp>
        <p:nvSpPr>
          <p:cNvPr id="14" name="Shape 14"/>
          <p:cNvSpPr/>
          <p:nvPr/>
        </p:nvSpPr>
        <p:spPr>
          <a:xfrm>
            <a:off x="3566160" y="2560320"/>
            <a:ext cx="1828800" cy="4572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878" dirty="0">
                <a:solidFill>
                  <a:srgbClr val="FFFFFF"/>
                </a:solidFill>
              </a:rPr>
              <a:t>CFO</a:t>
            </a:r>
          </a:p>
        </p:txBody>
      </p:sp>
      <p:sp>
        <p:nvSpPr>
          <p:cNvPr id="15" name="Shape 15"/>
          <p:cNvSpPr/>
          <p:nvPr/>
        </p:nvSpPr>
        <p:spPr>
          <a:xfrm>
            <a:off x="6217920" y="2560320"/>
            <a:ext cx="1828800" cy="4572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878" dirty="0">
                <a:solidFill>
                  <a:srgbClr val="FFFFFF"/>
                </a:solidFill>
              </a:rPr>
              <a:t>COO</a:t>
            </a:r>
          </a:p>
        </p:txBody>
      </p:sp>
      <p:sp>
        <p:nvSpPr>
          <p:cNvPr id="16" name="Shape 16"/>
          <p:cNvSpPr/>
          <p:nvPr/>
        </p:nvSpPr>
        <p:spPr>
          <a:xfrm>
            <a:off x="1828800" y="2468880"/>
            <a:ext cx="45720" cy="146304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7" name="Shape 17"/>
          <p:cNvSpPr/>
          <p:nvPr/>
        </p:nvSpPr>
        <p:spPr>
          <a:xfrm>
            <a:off x="4480560" y="2468880"/>
            <a:ext cx="45720" cy="146304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8" name="Shape 18"/>
          <p:cNvSpPr/>
          <p:nvPr/>
        </p:nvSpPr>
        <p:spPr>
          <a:xfrm>
            <a:off x="7040880" y="2468880"/>
            <a:ext cx="45720" cy="146304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9" name="Shape 19"/>
          <p:cNvSpPr/>
          <p:nvPr/>
        </p:nvSpPr>
        <p:spPr>
          <a:xfrm>
            <a:off x="457200" y="3291840"/>
            <a:ext cx="1188720" cy="36576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Engineering</a:t>
            </a:r>
          </a:p>
        </p:txBody>
      </p:sp>
      <p:sp>
        <p:nvSpPr>
          <p:cNvPr id="20" name="Shape 20"/>
          <p:cNvSpPr/>
          <p:nvPr/>
        </p:nvSpPr>
        <p:spPr>
          <a:xfrm>
            <a:off x="1828800" y="3291840"/>
            <a:ext cx="1188720" cy="36576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Product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PDCA Continuous Improvement Cycle</a:t>
            </a:r>
          </a:p>
        </p:txBody>
      </p:sp>
      <p:sp>
        <p:nvSpPr>
          <p:cNvPr id="10" name="Shape 10"/>
          <p:cNvSpPr/>
          <p:nvPr/>
        </p:nvSpPr>
        <p:spPr>
          <a:xfrm>
            <a:off x="1463040" y="1600200"/>
            <a:ext cx="2468880" cy="146304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2191" dirty="0">
                <a:solidFill>
                  <a:srgbClr val="FFFFFF"/>
                </a:solidFill>
              </a:rPr>
              <a:t>PLAN
Define goals
and strategy</a:t>
            </a:r>
          </a:p>
        </p:txBody>
      </p:sp>
      <p:sp>
        <p:nvSpPr>
          <p:cNvPr id="11" name="Shape 11"/>
          <p:cNvSpPr/>
          <p:nvPr/>
        </p:nvSpPr>
        <p:spPr>
          <a:xfrm>
            <a:off x="4480560" y="1600200"/>
            <a:ext cx="2468880" cy="146304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2191" dirty="0">
                <a:solidFill>
                  <a:srgbClr val="000000"/>
                </a:solidFill>
              </a:rPr>
              <a:t>DO
Implement
the plan</a:t>
            </a:r>
          </a:p>
        </p:txBody>
      </p:sp>
      <p:sp>
        <p:nvSpPr>
          <p:cNvPr id="12" name="Shape 12"/>
          <p:cNvSpPr/>
          <p:nvPr/>
        </p:nvSpPr>
        <p:spPr>
          <a:xfrm>
            <a:off x="4480560" y="3291840"/>
            <a:ext cx="2468880" cy="146304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2191" dirty="0">
                <a:solidFill>
                  <a:srgbClr val="000000"/>
                </a:solidFill>
              </a:rPr>
              <a:t>CHECK
Measure
results</a:t>
            </a:r>
          </a:p>
        </p:txBody>
      </p:sp>
      <p:sp>
        <p:nvSpPr>
          <p:cNvPr id="13" name="Shape 13"/>
          <p:cNvSpPr/>
          <p:nvPr/>
        </p:nvSpPr>
        <p:spPr>
          <a:xfrm>
            <a:off x="1463040" y="3291840"/>
            <a:ext cx="2468880" cy="1463040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2191" dirty="0">
                <a:solidFill>
                  <a:srgbClr val="000000"/>
                </a:solidFill>
              </a:rPr>
              <a:t>ACT
Adjust and
improve</a:t>
            </a:r>
          </a:p>
        </p:txBody>
      </p:sp>
      <p:sp>
        <p:nvSpPr>
          <p:cNvPr id="14" name="Shape 14"/>
          <p:cNvSpPr/>
          <p:nvPr/>
        </p:nvSpPr>
        <p:spPr>
          <a:xfrm>
            <a:off x="4114800" y="2103120"/>
            <a:ext cx="274320" cy="27432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5" name="Shape 15"/>
          <p:cNvSpPr/>
          <p:nvPr/>
        </p:nvSpPr>
        <p:spPr>
          <a:xfrm>
            <a:off x="5577840" y="3200400"/>
            <a:ext cx="274320" cy="182880"/>
          </a:xfrm>
          <a:prstGeom prst="down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6" name="Shape 16"/>
          <p:cNvSpPr/>
          <p:nvPr/>
        </p:nvSpPr>
        <p:spPr>
          <a:xfrm>
            <a:off x="4114800" y="3840480"/>
            <a:ext cx="274320" cy="274320"/>
          </a:xfrm>
          <a:prstGeom prst="lef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7" name="Shape 17"/>
          <p:cNvSpPr/>
          <p:nvPr/>
        </p:nvSpPr>
        <p:spPr>
          <a:xfrm>
            <a:off x="2560320" y="3200400"/>
            <a:ext cx="274320" cy="182880"/>
          </a:xfrm>
          <a:prstGeom prst="up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Maslow's Hierarchy of Needs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4023360"/>
            <a:ext cx="7955279" cy="640080"/>
          </a:xfrm>
          <a:prstGeom prst="trapezoid">
            <a:avLst/>
          </a:prstGeom>
          <a:solidFill>
            <a:srgbClr val="C0000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08" dirty="0">
                <a:solidFill>
                  <a:srgbClr val="FFFFFF"/>
                </a:solidFill>
              </a:rPr>
              <a:t>Physiological Needs - Food, Water, Shelter</a:t>
            </a:r>
          </a:p>
        </p:txBody>
      </p:sp>
      <p:sp>
        <p:nvSpPr>
          <p:cNvPr id="11" name="Shape 11"/>
          <p:cNvSpPr/>
          <p:nvPr/>
        </p:nvSpPr>
        <p:spPr>
          <a:xfrm>
            <a:off x="1005840" y="3383280"/>
            <a:ext cx="7040880" cy="640080"/>
          </a:xfrm>
          <a:prstGeom prst="trapezoid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08" dirty="0">
                <a:solidFill>
                  <a:srgbClr val="000000"/>
                </a:solidFill>
              </a:rPr>
              <a:t>Safety Needs - Security, Stability</a:t>
            </a:r>
          </a:p>
        </p:txBody>
      </p:sp>
      <p:sp>
        <p:nvSpPr>
          <p:cNvPr id="12" name="Shape 12"/>
          <p:cNvSpPr/>
          <p:nvPr/>
        </p:nvSpPr>
        <p:spPr>
          <a:xfrm>
            <a:off x="1463040" y="2834640"/>
            <a:ext cx="6035040" cy="640080"/>
          </a:xfrm>
          <a:prstGeom prst="trapezoid">
            <a:avLst/>
          </a:prstGeom>
          <a:solidFill>
            <a:srgbClr val="FFC00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08" dirty="0">
                <a:solidFill>
                  <a:srgbClr val="000000"/>
                </a:solidFill>
              </a:rPr>
              <a:t>Love &amp; Belonging - Relationships</a:t>
            </a:r>
          </a:p>
        </p:txBody>
      </p:sp>
      <p:sp>
        <p:nvSpPr>
          <p:cNvPr id="13" name="Shape 13"/>
          <p:cNvSpPr/>
          <p:nvPr/>
        </p:nvSpPr>
        <p:spPr>
          <a:xfrm>
            <a:off x="2011680" y="2194560"/>
            <a:ext cx="5029200" cy="640080"/>
          </a:xfrm>
          <a:prstGeom prst="trapezoid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31" dirty="0">
                <a:solidFill>
                  <a:srgbClr val="000000"/>
                </a:solidFill>
              </a:rPr>
              <a:t>Esteem - Achievement, Respect</a:t>
            </a:r>
          </a:p>
        </p:txBody>
      </p:sp>
      <p:sp>
        <p:nvSpPr>
          <p:cNvPr id="14" name="Shape 14"/>
          <p:cNvSpPr/>
          <p:nvPr/>
        </p:nvSpPr>
        <p:spPr>
          <a:xfrm>
            <a:off x="2468880" y="1463040"/>
            <a:ext cx="4023360" cy="731520"/>
          </a:xfrm>
          <a:prstGeom prst="triangle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360" dirty="0">
                <a:solidFill>
                  <a:srgbClr val="FFFFFF"/>
                </a:solidFill>
              </a:rPr>
              <a:t>Self-Actualization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Finding Your Ikigai - Venn Diagram</a:t>
            </a:r>
          </a:p>
        </p:txBody>
      </p:sp>
      <p:sp>
        <p:nvSpPr>
          <p:cNvPr id="10" name="Shape 10"/>
          <p:cNvSpPr/>
          <p:nvPr/>
        </p:nvSpPr>
        <p:spPr>
          <a:xfrm>
            <a:off x="1463040" y="1828800"/>
            <a:ext cx="3017520" cy="3017520"/>
          </a:xfrm>
          <a:prstGeom prst="ellipse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7200" dirty="0">
                <a:solidFill>
                  <a:srgbClr val="FFFFFF"/>
                </a:solidFill>
              </a:rPr>
              <a:t>Skills</a:t>
            </a:r>
          </a:p>
        </p:txBody>
      </p:sp>
      <p:sp>
        <p:nvSpPr>
          <p:cNvPr id="11" name="Shape 11"/>
          <p:cNvSpPr/>
          <p:nvPr/>
        </p:nvSpPr>
        <p:spPr>
          <a:xfrm>
            <a:off x="3474720" y="1828800"/>
            <a:ext cx="3017520" cy="3017520"/>
          </a:xfrm>
          <a:prstGeom prst="ellipse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6377" dirty="0">
                <a:solidFill>
                  <a:srgbClr val="000000"/>
                </a:solidFill>
              </a:rPr>
              <a:t>Passion</a:t>
            </a:r>
          </a:p>
        </p:txBody>
      </p:sp>
      <p:sp>
        <p:nvSpPr>
          <p:cNvPr id="12" name="Shape 12"/>
          <p:cNvSpPr/>
          <p:nvPr/>
        </p:nvSpPr>
        <p:spPr>
          <a:xfrm>
            <a:off x="2468880" y="3200400"/>
            <a:ext cx="3017520" cy="3017520"/>
          </a:xfrm>
          <a:prstGeom prst="ellipse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058" dirty="0">
                <a:solidFill>
                  <a:srgbClr val="000000"/>
                </a:solidFill>
              </a:rPr>
              <a:t>Market Need</a:t>
            </a:r>
          </a:p>
        </p:txBody>
      </p:sp>
      <p:sp>
        <p:nvSpPr>
          <p:cNvPr id="13" name="Shape 13"/>
          <p:cNvSpPr/>
          <p:nvPr/>
        </p:nvSpPr>
        <p:spPr>
          <a:xfrm>
            <a:off x="3200400" y="2834640"/>
            <a:ext cx="1600200" cy="822960"/>
          </a:xfrm>
          <a:prstGeom prst="ellipse">
            <a:avLst/>
          </a:prstGeom>
          <a:solidFill>
            <a:srgbClr val="FFFFFF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19" dirty="0">
                <a:solidFill>
                  <a:srgbClr val="000000"/>
                </a:solidFill>
              </a:rPr>
              <a:t>IKIGAI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Project Roadmap 2024-2025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2000000"/>
          <a:ext cx="7500000" cy="1200000"/>
        </p:xfrm>
        <a:graphic>
          <a:graphicData uri="http://schemas.openxmlformats.org/drawingml/2006/table">
            <a:tbl>
              <a:tblPr firstRow="1" bandRow="1"/>
              <a:tblGrid>
                <a:gridCol w="1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Q2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Q3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Q4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Research
&amp; Planning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Design
Phase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6100"/>
                          </a:solidFill>
                        </a:rPr>
                        <a:t>Development
Sprint 1-3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5911"/>
                          </a:solidFill>
                        </a:rPr>
                        <a:t>Testing
&amp; QA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375623"/>
                          </a:solidFill>
                        </a:rPr>
                        <a:t>Launch
&amp; Support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ED7D31"/>
                          </a:solidFill>
                        </a:rPr>
                        <a:t>In 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Executive Dashboard - Q1 2024</a:t>
            </a:r>
          </a:p>
        </p:txBody>
      </p:sp>
      <p:sp>
        <p:nvSpPr>
          <p:cNvPr id="10" name="Shape 10"/>
          <p:cNvSpPr/>
          <p:nvPr/>
        </p:nvSpPr>
        <p:spPr>
          <a:xfrm>
            <a:off x="274320" y="1577340"/>
            <a:ext cx="2011680" cy="123444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1800" dirty="0">
                <a:solidFill>
                  <a:srgbClr val="FFFFFF"/>
                </a:solidFill>
              </a:rPr>
              <a:t>Revenue
$2.14M
+15% YoY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1577340"/>
            <a:ext cx="2011680" cy="123444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1800" dirty="0">
                <a:solidFill>
                  <a:srgbClr val="000000"/>
                </a:solidFill>
              </a:rPr>
              <a:t>Customers
12,450
+22% YoY</a:t>
            </a:r>
          </a:p>
        </p:txBody>
      </p:sp>
      <p:sp>
        <p:nvSpPr>
          <p:cNvPr id="12" name="Shape 12"/>
          <p:cNvSpPr/>
          <p:nvPr/>
        </p:nvSpPr>
        <p:spPr>
          <a:xfrm>
            <a:off x="4663440" y="1577340"/>
            <a:ext cx="2011680" cy="123444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1800" dirty="0">
                <a:solidFill>
                  <a:srgbClr val="000000"/>
                </a:solidFill>
              </a:rPr>
              <a:t>NPS Score
72
+8 pts</a:t>
            </a:r>
          </a:p>
        </p:txBody>
      </p:sp>
      <p:sp>
        <p:nvSpPr>
          <p:cNvPr id="13" name="Shape 13"/>
          <p:cNvSpPr/>
          <p:nvPr/>
        </p:nvSpPr>
        <p:spPr>
          <a:xfrm>
            <a:off x="6858000" y="1577340"/>
            <a:ext cx="2011680" cy="123444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1800" dirty="0">
                <a:solidFill>
                  <a:srgbClr val="000000"/>
                </a:solidFill>
              </a:rPr>
              <a:t>Retention
94%
+3% YoY</a:t>
            </a:r>
          </a:p>
        </p:txBody>
      </p:sp>
      <p:sp>
        <p:nvSpPr>
          <p:cNvPr id="14" name="Shape 14"/>
          <p:cNvSpPr/>
          <p:nvPr/>
        </p:nvSpPr>
        <p:spPr>
          <a:xfrm>
            <a:off x="128016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>
            <a:endParaRPr/>
          </a:p>
        </p:txBody>
      </p:sp>
      <p:sp>
        <p:nvSpPr>
          <p:cNvPr id="15" name="Shape 15"/>
          <p:cNvSpPr/>
          <p:nvPr/>
        </p:nvSpPr>
        <p:spPr>
          <a:xfrm>
            <a:off x="347472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>
            <a:endParaRPr/>
          </a:p>
        </p:txBody>
      </p:sp>
      <p:sp>
        <p:nvSpPr>
          <p:cNvPr id="16" name="Shape 16"/>
          <p:cNvSpPr/>
          <p:nvPr/>
        </p:nvSpPr>
        <p:spPr>
          <a:xfrm>
            <a:off x="5669280" y="2880360"/>
            <a:ext cx="274320" cy="274320"/>
          </a:xfrm>
          <a:prstGeom prst="ellipse">
            <a:avLst/>
          </a:prstGeom>
          <a:solidFill>
            <a:srgbClr val="FFC000"/>
          </a:solidFill>
        </p:spPr>
        <p:txBody>
          <a:bodyPr/>
          <a:lstStyle/>
          <a:p>
            <a:endParaRPr/>
          </a:p>
        </p:txBody>
      </p:sp>
      <p:sp>
        <p:nvSpPr>
          <p:cNvPr id="17" name="Shape 17"/>
          <p:cNvSpPr/>
          <p:nvPr/>
        </p:nvSpPr>
        <p:spPr>
          <a:xfrm>
            <a:off x="786384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Summary &amp; Next Steps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Completed: Research, Design, Initial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In Progress: Sprint 3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Next: QA Testing Phase (Q4 2024)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Launch Target: Q1 2025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Key Risks: Resource constraints, Timeline pressure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Numbered List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800" b="0" i="0" dirty="0"/>
              <a:t>First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Second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Third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Fourth numbered item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Lettered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lphaLcPeriod"/>
            </a:pPr>
            <a:r>
              <a:rPr lang="en-US" sz="2800" b="0" i="0" dirty="0"/>
              <a:t>Option A - First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B - Second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C - Third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D - Fourth choice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Roman Numerals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romanUcPeriod"/>
            </a:pPr>
            <a:r>
              <a:rPr lang="en-US" sz="2800" b="0" i="0" dirty="0"/>
              <a:t>Chapter I - Introduction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 - Background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III - Methodology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IV - Results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V - Conclusion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Custom Characters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★"/>
            </a:pPr>
            <a:r>
              <a:rPr lang="en-US" sz="2800" b="0" i="0" dirty="0"/>
              <a:t>Star bullet point</a:t>
            </a:r>
          </a:p>
          <a:p>
            <a:pPr lvl="0" marL="457200" indent="-457200">
              <a:buChar char="→"/>
            </a:pPr>
            <a:r>
              <a:rPr lang="en-US" sz="2800" b="0" i="0" dirty="0"/>
              <a:t>Arrow bullet point</a:t>
            </a:r>
          </a:p>
          <a:p>
            <a:pPr lvl="0" marL="457200" indent="-457200">
              <a:buChar char="✓"/>
            </a:pPr>
            <a:r>
              <a:rPr lang="en-US" sz="2800" b="0" i="0" dirty="0"/>
              <a:t>Check bullet point</a:t>
            </a:r>
          </a:p>
          <a:p>
            <a:pPr lvl="0" marL="457200" indent="-457200">
              <a:buChar char="◆"/>
            </a:pPr>
            <a:r>
              <a:rPr lang="en-US" sz="2800" b="0" i="0" dirty="0"/>
              <a:t>Diamond bullet point</a:t>
            </a:r>
          </a:p>
          <a:p>
            <a:pPr lvl="0" marL="457200" indent="-457200">
              <a:buChar char="♥"/>
            </a:pPr>
            <a:r>
              <a:rPr lang="en-US" sz="2800" b="0" i="0" dirty="0"/>
              <a:t>Heart bullet point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Hierarchical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Main Topic 1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A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B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2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C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D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Text Enhancements - New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 strike="sngStrike"/>
              <a:t>Strikethrough: This text is crossed out</a:t>
            </a:r>
          </a:p>
          <a:p>
            <a:pPr lvl="0" marL="457200" indent="-457200">
              <a:buChar char="•"/>
            </a:pPr>
            <a:r>
              <a:rPr lang="en-US" sz="2400" b="0" i="0" dirty="0">
                <a:highlight>
                  <a:srgbClr val="FFFF00"/>
                </a:highlight>
              </a:rPr>
              <a:t>Highlight: Yellow background for emphasis</a:t>
            </a:r>
          </a:p>
          <a:p>
            <a:pPr lvl="0" marL="457200" indent="-457200">
              <a:buChar char="•"/>
            </a:pPr>
            <a:r>
              <a:rPr lang="en-US" sz="2400" b="0" i="0" dirty="0" baseline="-25000"/>
              <a:t>Subscript: H₂O - for chemical formulas</a:t>
            </a:r>
          </a:p>
          <a:p>
            <a:pPr lvl="0" marL="457200" indent="-457200">
              <a:buChar char="•"/>
            </a:pPr>
            <a:r>
              <a:rPr lang="en-US" sz="2400" b="0" i="0" dirty="0" baseline="30000"/>
              <a:t>Superscript: x² - for math expressions</a:t>
            </a:r>
          </a:p>
          <a:p>
            <a:pPr lvl="0" marL="457200" indent="-457200">
              <a:buChar char="•"/>
            </a:pPr>
            <a:r>
              <a:rPr lang="en-US" sz="2400" b="1" i="0" dirty="0">
                <a:solidFill>
                  <a:srgbClr val="FF0000"/>
                </a:solidFill>
              </a:rPr>
              <a:t>Combined: Bold + Red color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Font Size Presets - Each line different size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600" b="0" i="0" dirty="0"/>
              <a:t>LARGE: 36pt - Extra large text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HEADING: 28pt - Section headers</a:t>
            </a:r>
          </a:p>
          <a:p>
            <a:pPr lvl="0" marL="457200" indent="-457200">
              <a:buChar char="•"/>
            </a:pPr>
            <a:r>
              <a:rPr lang="en-US" sz="1800" b="0" i="0" dirty="0"/>
              <a:t>BODY: 18pt - Regular content</a:t>
            </a:r>
          </a:p>
          <a:p>
            <a:pPr lvl="0" marL="457200" indent="-457200">
              <a:buChar char="•"/>
            </a:pPr>
            <a:r>
              <a:rPr lang="en-US" sz="1400" b="0" i="0" dirty="0"/>
              <a:t>SMALL: 14pt - Smaller text</a:t>
            </a:r>
          </a:p>
          <a:p>
            <a:pPr lvl="0" marL="457200" indent="-457200">
              <a:buChar char="•"/>
            </a:pPr>
            <a:r>
              <a:rPr lang="en-US" sz="1200" b="0" i="0" dirty="0"/>
              <a:t>CAPTION: 12pt - Captions and notes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Theme Color Palettes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1828800" cy="82296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879" dirty="0">
                <a:solidFill>
                  <a:srgbClr val="FFFFFF"/>
                </a:solidFill>
              </a:rPr>
              <a:t>Corporate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1600200"/>
            <a:ext cx="1828800" cy="822960"/>
          </a:xfrm>
          <a:prstGeom prst="rect">
            <a:avLst/>
          </a:prstGeom>
          <a:solidFill>
            <a:srgbClr val="21212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20" dirty="0">
                <a:solidFill>
                  <a:srgbClr val="FFFFFF"/>
                </a:solidFill>
              </a:rPr>
              <a:t>Modern</a:t>
            </a:r>
          </a:p>
        </p:txBody>
      </p:sp>
      <p:sp>
        <p:nvSpPr>
          <p:cNvPr id="12" name="Shape 12"/>
          <p:cNvSpPr/>
          <p:nvPr/>
        </p:nvSpPr>
        <p:spPr>
          <a:xfrm>
            <a:off x="4480560" y="1600200"/>
            <a:ext cx="1828800" cy="822960"/>
          </a:xfrm>
          <a:prstGeom prst="rect">
            <a:avLst/>
          </a:prstGeom>
          <a:solidFill>
            <a:srgbClr val="E91E63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FFFFFF"/>
                </a:solidFill>
              </a:rPr>
              <a:t>Vibrant</a:t>
            </a:r>
          </a:p>
        </p:txBody>
      </p:sp>
      <p:sp>
        <p:nvSpPr>
          <p:cNvPr id="13" name="Shape 13"/>
          <p:cNvSpPr/>
          <p:nvPr/>
        </p:nvSpPr>
        <p:spPr>
          <a:xfrm>
            <a:off x="6492240" y="1600200"/>
            <a:ext cx="1828800" cy="822960"/>
          </a:xfrm>
          <a:prstGeom prst="rect">
            <a:avLst/>
          </a:prstGeom>
          <a:solidFill>
            <a:srgbClr val="BB86FC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000000"/>
                </a:solidFill>
              </a:rPr>
              <a:t>Dark</a:t>
            </a:r>
          </a:p>
        </p:txBody>
      </p:sp>
      <p:sp>
        <p:nvSpPr>
          <p:cNvPr id="14" name="Shape 14"/>
          <p:cNvSpPr/>
          <p:nvPr/>
        </p:nvSpPr>
        <p:spPr>
          <a:xfrm>
            <a:off x="457200" y="2743200"/>
            <a:ext cx="1828800" cy="822960"/>
          </a:xfrm>
          <a:prstGeom prst="rect">
            <a:avLst/>
          </a:prstGeom>
          <a:solidFill>
            <a:srgbClr val="2E7D32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20" dirty="0">
                <a:solidFill>
                  <a:srgbClr val="FFFFFF"/>
                </a:solidFill>
              </a:rPr>
              <a:t>Nature</a:t>
            </a:r>
          </a:p>
        </p:txBody>
      </p:sp>
      <p:sp>
        <p:nvSpPr>
          <p:cNvPr id="15" name="Shape 15"/>
          <p:cNvSpPr/>
          <p:nvPr/>
        </p:nvSpPr>
        <p:spPr>
          <a:xfrm>
            <a:off x="2468880" y="2743200"/>
            <a:ext cx="1828800" cy="822960"/>
          </a:xfrm>
          <a:prstGeom prst="rect">
            <a:avLst/>
          </a:prstGeom>
          <a:solidFill>
            <a:srgbClr val="0D47A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Tech</a:t>
            </a:r>
          </a:p>
        </p:txBody>
      </p:sp>
      <p:sp>
        <p:nvSpPr>
          <p:cNvPr id="16" name="Shape 16"/>
          <p:cNvSpPr/>
          <p:nvPr/>
        </p:nvSpPr>
        <p:spPr>
          <a:xfrm>
            <a:off x="4480560" y="2743200"/>
            <a:ext cx="1828800" cy="82296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20" dirty="0">
                <a:solidFill>
                  <a:srgbClr val="FFFFFF"/>
                </a:solidFill>
              </a:rPr>
              <a:t>Carbon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Material &amp; Carbon Design Colors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1188720" cy="640080"/>
          </a:xfrm>
          <a:prstGeom prst="rect">
            <a:avLst/>
          </a:prstGeom>
          <a:solidFill>
            <a:srgbClr val="F4433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130" dirty="0">
                <a:solidFill>
                  <a:srgbClr val="FFFFFF"/>
                </a:solidFill>
              </a:rPr>
              <a:t>M-Red</a:t>
            </a:r>
          </a:p>
        </p:txBody>
      </p:sp>
      <p:sp>
        <p:nvSpPr>
          <p:cNvPr id="11" name="Shape 11"/>
          <p:cNvSpPr/>
          <p:nvPr/>
        </p:nvSpPr>
        <p:spPr>
          <a:xfrm>
            <a:off x="1920240" y="1600200"/>
            <a:ext cx="1188720" cy="640080"/>
          </a:xfrm>
          <a:prstGeom prst="rect">
            <a:avLst/>
          </a:prstGeom>
          <a:solidFill>
            <a:srgbClr val="2196F3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40" dirty="0">
                <a:solidFill>
                  <a:srgbClr val="FFFFFF"/>
                </a:solidFill>
              </a:rPr>
              <a:t>M-Blue</a:t>
            </a:r>
          </a:p>
        </p:txBody>
      </p:sp>
      <p:sp>
        <p:nvSpPr>
          <p:cNvPr id="12" name="Shape 12"/>
          <p:cNvSpPr/>
          <p:nvPr/>
        </p:nvSpPr>
        <p:spPr>
          <a:xfrm>
            <a:off x="3291840" y="1600200"/>
            <a:ext cx="1188720" cy="640080"/>
          </a:xfrm>
          <a:prstGeom prst="rect">
            <a:avLst/>
          </a:prstGeom>
          <a:solidFill>
            <a:srgbClr val="4CAF5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262" dirty="0">
                <a:solidFill>
                  <a:srgbClr val="000000"/>
                </a:solidFill>
              </a:rPr>
              <a:t>M-Green</a:t>
            </a:r>
          </a:p>
        </p:txBody>
      </p:sp>
      <p:sp>
        <p:nvSpPr>
          <p:cNvPr id="13" name="Shape 13"/>
          <p:cNvSpPr/>
          <p:nvPr/>
        </p:nvSpPr>
        <p:spPr>
          <a:xfrm>
            <a:off x="4663440" y="1600200"/>
            <a:ext cx="1188720" cy="640080"/>
          </a:xfrm>
          <a:prstGeom prst="rect">
            <a:avLst/>
          </a:prstGeom>
          <a:solidFill>
            <a:srgbClr val="FF980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980" dirty="0">
                <a:solidFill>
                  <a:srgbClr val="000000"/>
                </a:solidFill>
              </a:rPr>
              <a:t>M-Orange</a:t>
            </a:r>
          </a:p>
        </p:txBody>
      </p:sp>
      <p:sp>
        <p:nvSpPr>
          <p:cNvPr id="14" name="Shape 14"/>
          <p:cNvSpPr/>
          <p:nvPr/>
        </p:nvSpPr>
        <p:spPr>
          <a:xfrm>
            <a:off x="6126480" y="1600200"/>
            <a:ext cx="1188720" cy="640080"/>
          </a:xfrm>
          <a:prstGeom prst="rect">
            <a:avLst/>
          </a:prstGeom>
          <a:solidFill>
            <a:srgbClr val="9C27B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980" dirty="0">
                <a:solidFill>
                  <a:srgbClr val="FFFFFF"/>
                </a:solidFill>
              </a:rPr>
              <a:t>M-Purple</a:t>
            </a:r>
          </a:p>
        </p:txBody>
      </p:sp>
      <p:sp>
        <p:nvSpPr>
          <p:cNvPr id="15" name="Shape 15"/>
          <p:cNvSpPr/>
          <p:nvPr/>
        </p:nvSpPr>
        <p:spPr>
          <a:xfrm>
            <a:off x="457200" y="2468880"/>
            <a:ext cx="1188720" cy="64008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40" dirty="0">
                <a:solidFill>
                  <a:srgbClr val="FFFFFF"/>
                </a:solidFill>
              </a:rPr>
              <a:t>C-Blue</a:t>
            </a:r>
          </a:p>
        </p:txBody>
      </p:sp>
      <p:sp>
        <p:nvSpPr>
          <p:cNvPr id="16" name="Shape 16"/>
          <p:cNvSpPr/>
          <p:nvPr/>
        </p:nvSpPr>
        <p:spPr>
          <a:xfrm>
            <a:off x="1920240" y="2468880"/>
            <a:ext cx="1188720" cy="640080"/>
          </a:xfrm>
          <a:prstGeom prst="rect">
            <a:avLst/>
          </a:prstGeom>
          <a:solidFill>
            <a:srgbClr val="24A148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262" dirty="0">
                <a:solidFill>
                  <a:srgbClr val="FFFFFF"/>
                </a:solidFill>
              </a:rPr>
              <a:t>C-Green</a:t>
            </a:r>
          </a:p>
        </p:txBody>
      </p:sp>
      <p:sp>
        <p:nvSpPr>
          <p:cNvPr id="17" name="Shape 17"/>
          <p:cNvSpPr/>
          <p:nvPr/>
        </p:nvSpPr>
        <p:spPr>
          <a:xfrm>
            <a:off x="3291840" y="2468880"/>
            <a:ext cx="1188720" cy="640080"/>
          </a:xfrm>
          <a:prstGeom prst="rect">
            <a:avLst/>
          </a:prstGeom>
          <a:solidFill>
            <a:srgbClr val="DA1E28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130" dirty="0">
                <a:solidFill>
                  <a:srgbClr val="FFFFFF"/>
                </a:solidFill>
              </a:rPr>
              <a:t>C-Red</a:t>
            </a:r>
          </a:p>
        </p:txBody>
      </p:sp>
      <p:sp>
        <p:nvSpPr>
          <p:cNvPr id="18" name="Shape 18"/>
          <p:cNvSpPr/>
          <p:nvPr/>
        </p:nvSpPr>
        <p:spPr>
          <a:xfrm>
            <a:off x="4663440" y="2468880"/>
            <a:ext cx="1188720" cy="640080"/>
          </a:xfrm>
          <a:prstGeom prst="rect">
            <a:avLst/>
          </a:prstGeom>
          <a:solidFill>
            <a:srgbClr val="8A3FFC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980" dirty="0">
                <a:solidFill>
                  <a:srgbClr val="FFFFFF"/>
                </a:solidFill>
              </a:rPr>
              <a:t>C-Purple</a:t>
            </a:r>
          </a:p>
        </p:txBody>
      </p:sp>
      <p:sp>
        <p:nvSpPr>
          <p:cNvPr id="19" name="Shape 19"/>
          <p:cNvSpPr/>
          <p:nvPr/>
        </p:nvSpPr>
        <p:spPr>
          <a:xfrm>
            <a:off x="6126480" y="2468880"/>
            <a:ext cx="1188720" cy="640080"/>
          </a:xfrm>
          <a:prstGeom prst="rect">
            <a:avLst/>
          </a:prstGeom>
          <a:solidFill>
            <a:srgbClr val="16161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40" dirty="0">
                <a:solidFill>
                  <a:srgbClr val="FFFFFF"/>
                </a:solidFill>
              </a:rPr>
              <a:t>C-Gray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Loading - New Methods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Image::new(path) - Load from file path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Image::from_base64(data) - Load from base64 string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Image::from_bytes(data) - Load from raw bytes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ImageBuilder for fluent API configuration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Built-in base64 decoder (no external deps)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New Features in v0.2.1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400" b="0" i="0" dirty="0"/>
              <a:t>BulletStyle: Number, Letter, Roman, Custom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Strikethrough, Highlight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Subscript, Superscript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Font size presets in prelude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Image::from_base64 and from_bytes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Theme color palettes (7 themes)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Material &amp; Carbon Design colors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Slide Show Settings - Mode Comparison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800000"/>
        </p:xfrm>
        <a:graphic>
          <a:graphicData uri="http://schemas.openxmlformats.org/drawingml/2006/table">
            <a:tbl>
              <a:tblPr firstRow="1" bandRow="1"/>
              <a:tblGrid>
                <a:gridCol w="2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Setting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Speaker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Kiosk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Browsed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Loop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Narration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Animation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Timings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Slide Range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1-10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Pen Color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274320" y="4206240"/>
            <a:ext cx="2468880" cy="64008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714" dirty="0">
                <a:solidFill>
                  <a:srgbClr val="FFFFFF"/>
                </a:solidFill>
              </a:rPr>
              <a:t>Speaker: Full control</a:t>
            </a:r>
          </a:p>
        </p:txBody>
      </p:sp>
      <p:sp>
        <p:nvSpPr>
          <p:cNvPr id="11" name="Shape 11"/>
          <p:cNvSpPr/>
          <p:nvPr/>
        </p:nvSpPr>
        <p:spPr>
          <a:xfrm>
            <a:off x="3108960" y="4206240"/>
            <a:ext cx="2468880" cy="64008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250" dirty="0">
                <a:solidFill>
                  <a:srgbClr val="000000"/>
                </a:solidFill>
              </a:rPr>
              <a:t>Kiosk: Auto-loop</a:t>
            </a:r>
          </a:p>
        </p:txBody>
      </p:sp>
      <p:sp>
        <p:nvSpPr>
          <p:cNvPr id="12" name="Shape 12"/>
          <p:cNvSpPr/>
          <p:nvPr/>
        </p:nvSpPr>
        <p:spPr>
          <a:xfrm>
            <a:off x="5943600" y="4206240"/>
            <a:ext cx="2468880" cy="64008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000" dirty="0">
                <a:solidFill>
                  <a:srgbClr val="000000"/>
                </a:solidFill>
              </a:rPr>
              <a:t>Browsed: Scrollbar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Print Handout - 6 Slides Per Page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0" y="1800000"/>
          <a:ext cx="3800000" cy="2800000"/>
        </p:xfrm>
        <a:graphic>
          <a:graphicData uri="http://schemas.openxmlformats.org/drawingml/2006/table">
            <a:tbl>
              <a:tblPr firstRow="1" bandRow="1"/>
              <a:tblGrid>
                <a:gridCol w="1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Print Settings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Print What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Handouts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Color Mode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Grayscale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Layout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 slides/page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Frame Slides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Date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Page Numbers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274320" y="1463040"/>
            <a:ext cx="4206240" cy="27432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869" dirty="0">
                <a:solidFill>
                  <a:srgbClr val="000000"/>
                </a:solidFill>
              </a:rPr>
              <a:t>Q1 2025 Strategy Review</a:t>
            </a:r>
          </a:p>
        </p:txBody>
      </p:sp>
      <p:sp>
        <p:nvSpPr>
          <p:cNvPr id="11" name="Shape 11"/>
          <p:cNvSpPr/>
          <p:nvPr/>
        </p:nvSpPr>
        <p:spPr>
          <a:xfrm>
            <a:off x="365760" y="201168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1</a:t>
            </a:r>
          </a:p>
        </p:txBody>
      </p:sp>
      <p:sp>
        <p:nvSpPr>
          <p:cNvPr id="12" name="Shape 12"/>
          <p:cNvSpPr/>
          <p:nvPr/>
        </p:nvSpPr>
        <p:spPr>
          <a:xfrm>
            <a:off x="2468880" y="201168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2</a:t>
            </a:r>
          </a:p>
        </p:txBody>
      </p:sp>
      <p:sp>
        <p:nvSpPr>
          <p:cNvPr id="13" name="Shape 13"/>
          <p:cNvSpPr/>
          <p:nvPr/>
        </p:nvSpPr>
        <p:spPr>
          <a:xfrm>
            <a:off x="365760" y="320040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3</a:t>
            </a:r>
          </a:p>
        </p:txBody>
      </p:sp>
      <p:sp>
        <p:nvSpPr>
          <p:cNvPr id="14" name="Shape 14"/>
          <p:cNvSpPr/>
          <p:nvPr/>
        </p:nvSpPr>
        <p:spPr>
          <a:xfrm>
            <a:off x="2468880" y="320040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4</a:t>
            </a:r>
          </a:p>
        </p:txBody>
      </p:sp>
      <p:sp>
        <p:nvSpPr>
          <p:cNvPr id="15" name="Shape 15"/>
          <p:cNvSpPr/>
          <p:nvPr/>
        </p:nvSpPr>
        <p:spPr>
          <a:xfrm>
            <a:off x="365760" y="438912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5</a:t>
            </a:r>
          </a:p>
        </p:txBody>
      </p:sp>
      <p:sp>
        <p:nvSpPr>
          <p:cNvPr id="16" name="Shape 16"/>
          <p:cNvSpPr/>
          <p:nvPr/>
        </p:nvSpPr>
        <p:spPr>
          <a:xfrm>
            <a:off x="2468880" y="438912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6</a:t>
            </a:r>
          </a:p>
        </p:txBody>
      </p:sp>
      <p:sp>
        <p:nvSpPr>
          <p:cNvPr id="17" name="Shape 17"/>
          <p:cNvSpPr/>
          <p:nvPr/>
        </p:nvSpPr>
        <p:spPr>
          <a:xfrm>
            <a:off x="274320" y="5577840"/>
            <a:ext cx="4206240" cy="27432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724" dirty="0">
                <a:solidFill>
                  <a:srgbClr val="000000"/>
                </a:solidFill>
              </a:rPr>
              <a:t>Confidential - Internal Use Only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Advanced Table Merging - Merged Cells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7500000" cy="2000000"/>
        </p:xfrm>
        <a:graphic>
          <a:graphicData uri="http://schemas.openxmlformats.org/drawingml/2006/table">
            <a:tbl>
              <a:tblPr firstRow="1" bandRow="1"/>
              <a:tblGrid>
                <a:gridCol w="1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 gridSpan="4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 Revenue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 rowSpan="2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1F497D"/>
                          </a:solidFill>
                        </a:rPr>
                        <a:t>Products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+12%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Software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$680,000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+25%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 rowSpan="2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C65911"/>
                          </a:solidFill>
                        </a:rPr>
                        <a:t>Services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Consulting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Support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274320" y="4389120"/>
            <a:ext cx="2011680" cy="36576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152" dirty="0">
                <a:solidFill>
                  <a:srgbClr val="FFFFFF"/>
                </a:solidFill>
              </a:rPr>
              <a:t>Anchor (gridSpan/rowSpan)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4389120"/>
            <a:ext cx="2011680" cy="36576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hMerge (col covered)</a:t>
            </a:r>
          </a:p>
        </p:txBody>
      </p:sp>
      <p:sp>
        <p:nvSpPr>
          <p:cNvPr id="12" name="Shape 12"/>
          <p:cNvSpPr/>
          <p:nvPr/>
        </p:nvSpPr>
        <p:spPr>
          <a:xfrm>
            <a:off x="4663440" y="4389120"/>
            <a:ext cx="2011680" cy="36576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vMerge (row covered)</a:t>
            </a:r>
          </a:p>
        </p:txBody>
      </p:sp>
      <p:sp>
        <p:nvSpPr>
          <p:cNvPr id="13" name="Shape 13"/>
          <p:cNvSpPr/>
          <p:nvPr/>
        </p:nvSpPr>
        <p:spPr>
          <a:xfrm>
            <a:off x="6858000" y="4389120"/>
            <a:ext cx="2011680" cy="365760"/>
          </a:xfrm>
          <a:prstGeom prst="roundRect">
            <a:avLst/>
          </a:prstGeom>
          <a:solidFill>
            <a:srgbClr val="A5A5A5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Normal (no merge)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44</Slides>
  <Notes>1</Notes>
  <HiddenSlides>0</HiddenSlides>
  <MMClips>0</MMClips>
  <ScaleCrop>false</ScaleCrop>
  <HeadingPairs>
    <vt:vector size="2" baseType="variant">
      <vt:variant>
        <vt:lpstr>Slide Titles</vt:lpstr>
      </vt:variant>
      <vt:variant>
        <vt:i4>44</vt:i4>
      </vt:variant>
    </vt:vector>
  </HeadingPairs>
  <TitlesOfParts>
    <vt:vector size="44" baseType="lpstr">
      <vt:lpstr>PPTX-RS Element Showcase</vt:lpstr>
      <vt:lpstr>Section: Slide Layouts</vt:lpstr>
      <vt:lpstr>Text Formatting Options</vt:lpstr>
      <vt:lpstr>Key Highlights</vt:lpstr>
      <vt:lpstr>Two Column Comparison</vt:lpstr>
      <vt:lpstr>Slide 6</vt:lpstr>
      <vt:lpstr>Table with Cell Styling</vt:lpstr>
      <vt:lpstr>Chart Types: Bar, Line, Pie</vt:lpstr>
      <vt:lpstr>Shape Types with Color Fills</vt:lpstr>
      <vt:lpstr>Gradient Fills - Multiple Directions</vt:lpstr>
      <vt:lpstr>Transparency Effects - Overlapping Shapes</vt:lpstr>
      <vt:lpstr>Styled Connectors - Types, Arrows, Dashes</vt:lpstr>
      <vt:lpstr>Image Effects: Shadow (Outer Shadow)</vt:lpstr>
      <vt:lpstr>Image Effects: Reflection (Mirror Effect)</vt:lpstr>
      <vt:lpstr>Image Cropping: All Sides, Top/Bottom, Left/Right</vt:lpstr>
      <vt:lpstr>Image Effects: Glow (Golden Aura)</vt:lpstr>
      <vt:lpstr>Image Effects: Soft Edges (Feathered)</vt:lpstr>
      <vt:lpstr>Image Effects: Inner Shadow (Depth)</vt:lpstr>
      <vt:lpstr>Image Effects: Blur (Artistic)</vt:lpstr>
      <vt:lpstr>Combined Effects: Shadow + Reflection</vt:lpstr>
      <vt:lpstr>Financial Report - Advanced Table</vt:lpstr>
      <vt:lpstr>Pricing Comparison Matrix</vt:lpstr>
      <vt:lpstr>Development Process Flow</vt:lpstr>
      <vt:lpstr>Organization Structure</vt:lpstr>
      <vt:lpstr>PDCA Continuous Improvement Cycle</vt:lpstr>
      <vt:lpstr>Maslow's Hierarchy of Needs</vt:lpstr>
      <vt:lpstr>Finding Your Ikigai - Venn Diagram</vt:lpstr>
      <vt:lpstr>Project Roadmap 2024-2025</vt:lpstr>
      <vt:lpstr>Executive Dashboard - Q1 2024</vt:lpstr>
      <vt:lpstr>Summary &amp; Next Steps</vt:lpstr>
      <vt:lpstr>Bullet Styles - Numbered List</vt:lpstr>
      <vt:lpstr>Bullet Styles - Lettered Lists</vt:lpstr>
      <vt:lpstr>Bullet Styles - Roman Numerals</vt:lpstr>
      <vt:lpstr>Bullet Styles - Custom Characters</vt:lpstr>
      <vt:lpstr>Bullet Styles - Hierarchical Lists</vt:lpstr>
      <vt:lpstr>Text Enhancements - New Formatting</vt:lpstr>
      <vt:lpstr>Font Size Presets - Each line different size</vt:lpstr>
      <vt:lpstr>Theme Color Palettes</vt:lpstr>
      <vt:lpstr>Material &amp; Carbon Design Colors</vt:lpstr>
      <vt:lpstr>Image Loading - New Methods</vt:lpstr>
      <vt:lpstr>New Features in v0.2.1</vt:lpstr>
      <vt:lpstr>Slide Show Settings - Mode Comparison</vt:lpstr>
      <vt:lpstr>Print Handout - 6 Slides Per Page</vt:lpstr>
      <vt:lpstr>Advanced Table Merging - Merged Cells</vt:lpstr>
    </vt:vector>
  </TitlesOfParts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2026-07-26T08:44:20Z</dcterms:created>
  <dcterms:modified xsi:type="dcterms:W3CDTF">2026-07-26T08:44:20Z</dcterms:modified>
</cp:coreProperties>
</file>