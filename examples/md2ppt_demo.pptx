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_rels/notesSlide5.xml.rels><?xml version="1.0" encoding="UTF-8" standalone="yes"?>
<Relationships xmlns="http://schemas.openxmlformats.org/package/2006/relationships">
<Relationship Id="rId1" Type="http://schemas.openxmlformats.org/officeDocument/2006/relationships/slide" Target="../slides/slide5.xml"/>
<Relationship Id="rId2" Type="http://schemas.openxmlformats.org/officeDocument/2006/relationships/notesMaster" Target="../notesMasters/notesMaster1.xml"/>
</Relationships>
</file>

<file path=ppt/notesSlides/_rels/notesSlide22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2.xml"/>
<Relationship Id="rId2" Type="http://schemas.openxmlformats.org/officeDocument/2006/relationships/notesMaster" Target="../notesMasters/notesMaster1.xml"/>
</Relationships>
</file>

<file path=ppt/notesSlides/_rels/notesSlide24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4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speaker note! It will appear in the notes section of PowerPoint, not on the slide itself. Use blockquotes for presenter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1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Q2 growth rate - it was our best quarter!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5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explain the table data during the presentation!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6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open for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8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Welcome to MD2PPT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A comprehensive demonstration of Markdown to PowerPoint conversion</a:t>
            </a:r>
          </a:p>
          <a:p>
            <a:pPr lvl="0"/>
            <a:r>
              <a:rPr lang="en-US" sz="2800" b="0" i="0" dirty="0"/>
              <a:t>Convert markdown files to professional presentations</a:t>
            </a:r>
          </a:p>
          <a:p>
            <a:pPr lvl="0"/>
            <a:r>
              <a:rPr lang="en-US" sz="2800" b="0" i="0" dirty="0"/>
              <a:t>Support for tables, code, diagrams, and more</a:t>
            </a:r>
          </a:p>
          <a:p>
            <a:pPr lvl="0"/>
            <a:r>
              <a:rPr lang="en-US" sz="2800" b="0" i="0" dirty="0"/>
              <a:t>Simple CLI: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pptcli md2ppt slides.md output.pptx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Markdown supports various text styles:</a:t>
            </a:r>
          </a:p>
          <a:p>
            <a:pPr lvl="0"/>
            <a:r>
              <a:rPr lang="en-US" sz="2800" b="1" i="0" dirty="0"/>
              <a:t>Bold text</a:t>
            </a:r>
            <a:r>
              <a:rPr lang="en-US" sz="2800" b="0" i="0" dirty="0"/>
              <a:t> for emphasis</a:t>
            </a:r>
          </a:p>
          <a:p>
            <a:pPr lvl="0"/>
            <a:r>
              <a:rPr lang="en-US" sz="2800" b="0" i="1" dirty="0"/>
              <a:t>Italic text</a:t>
            </a:r>
            <a:r>
              <a:rPr lang="en-US" sz="2800" b="0" i="0" dirty="0"/>
              <a:t> for subtle emphasis</a:t>
            </a:r>
          </a:p>
          <a:p>
            <a:pPr lvl="0"/>
            <a:r>
              <a:rPr lang="en-US" sz="2800" b="1" i="1" dirty="0"/>
              <a:t>Bold and italic</a:t>
            </a:r>
            <a:r>
              <a:rPr lang="en-US" sz="2800" b="0" i="0" dirty="0"/>
              <a:t> combined</a:t>
            </a:r>
          </a:p>
          <a:p>
            <a:pPr lvl="0"/>
            <a:r>
              <a:rPr lang="en-US" sz="2800" dirty="0">
                <a:latin typeface="Consolas"/>
                <a:solidFill>
                  <a:srgbClr val="C7254E"/>
                </a:solidFill>
              </a:rPr>
              <a:t>inline code</a:t>
            </a:r>
            <a:r>
              <a:rPr lang="en-US" sz="2800" b="0" i="0" dirty="0"/>
              <a:t> for technical terms</a:t>
            </a:r>
          </a:p>
          <a:p>
            <a:pPr lvl="0"/>
            <a:r>
              <a:rPr lang="en-US" sz="2800" b="0" i="0" dirty="0"/>
              <a:t>Regular text for normal content</a:t>
            </a:r>
          </a:p>
          <a:p>
            <a:pPr lvl="0"/>
            <a:r>
              <a:rPr lang="en-US" sz="2800" b="1" i="0" dirty="0"/>
              <a:t>Subheadings Become Bold Bullets</a:t>
            </a:r>
          </a:p>
          <a:p>
            <a:pPr lvl="0"/>
            <a:r>
              <a:rPr lang="en-US" sz="2800" b="0" i="0" dirty="0"/>
              <a:t>When you use ## or ### headings within a slide, they become bold bullet points. This is useful for organizing content hierarchically.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Bullet Points &amp;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Different bullet styles all work:</a:t>
            </a:r>
          </a:p>
          <a:p>
            <a:pPr lvl="0"/>
            <a:r>
              <a:rPr lang="en-US" sz="2800" b="0" i="0" dirty="0"/>
              <a:t>Dash bullet point</a:t>
            </a:r>
          </a:p>
          <a:p>
            <a:pPr lvl="0"/>
            <a:r>
              <a:rPr lang="en-US" sz="2800" b="0" i="0" dirty="0"/>
              <a:t>Another dash point</a:t>
            </a:r>
          </a:p>
          <a:p>
            <a:pPr lvl="0"/>
            <a:r>
              <a:rPr lang="en-US" sz="2800" b="0" i="0" dirty="0"/>
              <a:t>Asterisk bullet point</a:t>
            </a:r>
          </a:p>
          <a:p>
            <a:pPr lvl="0"/>
            <a:r>
              <a:rPr lang="en-US" sz="2800" b="0" i="0" dirty="0"/>
              <a:t>Another asterisk point</a:t>
            </a:r>
          </a:p>
          <a:p>
            <a:pPr lvl="0"/>
            <a:r>
              <a:rPr lang="en-US" sz="2800" b="0" i="0" dirty="0"/>
              <a:t>Plus bullet point</a:t>
            </a:r>
          </a:p>
          <a:p>
            <a:pPr lvl="0"/>
            <a:r>
              <a:rPr lang="en-US" sz="2800" b="0" i="0" dirty="0"/>
              <a:t>Another plus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Tables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Mermaid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Code Blocks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Speaker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Placeholder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Sales Report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Quarter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Growth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Q1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$1.0M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Q2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$1.3M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Q3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$1.6M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Q4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$2.0M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Code Examples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Here's a Rust code example: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fn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main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{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message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Hello, PowerPoint!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println!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CB4B16"/>
                </a:solidFill>
                <a:latin typeface="Consolas"/>
              </a:rPr>
              <a:t>{}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message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i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C71C4"/>
                </a:solidFill>
                <a:latin typeface="Consolas"/>
              </a:rPr>
              <a:t>1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..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6C71C4"/>
                </a:solidFill>
                <a:latin typeface="Consolas"/>
              </a:rPr>
              <a:t>5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{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println!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Slide </a:t>
            </a:r>
            <a:r>
              <a:rPr lang="en-US" sz="1400" dirty="0">
                <a:solidFill>
                  <a:srgbClr val="CB4B16"/>
                </a:solidFill>
                <a:latin typeface="Consolas"/>
              </a:rPr>
              <a:t>{}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i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}</a:t>
            </a:r>
          </a:p>
          <a:p>
            <a:pPr algn="l"/>
            <a:r>
              <a:rPr lang="en-US" sz="1400" dirty="0">
                <a:solidFill>
                  <a:srgbClr val="657B83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Python Code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859900"/>
                </a:solidFill>
                <a:latin typeface="Consolas"/>
              </a:rPr>
              <a:t>def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create_presentation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: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"""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Create a PowerPoint presentation.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"""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Presentation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slide_content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: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add_slide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slide_content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[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'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'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]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return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#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 Usage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slides = [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'Introduction'},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'Main Content'},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'Conclusion'}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]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create_presentation("Demo", slides)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System Architecture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1272000" y="2354000"/>
            <a:ext cx="1800000" cy="2450000"/>
          </a:xfrm>
          <a:prstGeom prst="roundRect">
            <a:avLst/>
          </a:prstGeom>
          <a:solidFill>
            <a:srgbClr val="E3F2FD"/>
          </a:solidFill>
          <a:ln w="1">
            <a:solidFill>
              <a:srgbClr val="757575"/>
            </a:solidFill>
          </a:ln>
        </p:spPr>
        <p:txBody>
          <a:bodyPr/>
          <a:lstStyle/>
          <a:p/>
        </p:txBody>
      </p:sp>
      <p:sp>
        <p:nvSpPr>
          <p:cNvPr id="10" name="Shape 10"/>
          <p:cNvSpPr/>
          <p:nvPr/>
        </p:nvSpPr>
        <p:spPr>
          <a:xfrm>
            <a:off x="1322000" y="2404000"/>
            <a:ext cx="17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1" name="Shape 11"/>
          <p:cNvSpPr/>
          <p:nvPr/>
        </p:nvSpPr>
        <p:spPr>
          <a:xfrm>
            <a:off x="1472000" y="28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Web Browser</a:t>
            </a:r>
          </a:p>
        </p:txBody>
      </p:sp>
      <p:sp>
        <p:nvSpPr>
          <p:cNvPr id="12" name="Shape 12"/>
          <p:cNvSpPr/>
          <p:nvPr/>
        </p:nvSpPr>
        <p:spPr>
          <a:xfrm>
            <a:off x="1472000" y="37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Mobile App</a:t>
            </a:r>
          </a:p>
        </p:txBody>
      </p:sp>
      <p:sp>
        <p:nvSpPr>
          <p:cNvPr id="14" name="Shape 14"/>
          <p:cNvSpPr/>
          <p:nvPr/>
        </p:nvSpPr>
        <p:spPr>
          <a:xfrm>
            <a:off x="3672000" y="2354000"/>
            <a:ext cx="1800000" cy="3350000"/>
          </a:xfrm>
          <a:prstGeom prst="roundRect">
            <a:avLst/>
          </a:prstGeom>
          <a:solidFill>
            <a:srgbClr val="F3E5F5"/>
          </a:solidFill>
          <a:ln w="1">
            <a:solidFill>
              <a:srgbClr val="757575"/>
            </a:solidFill>
          </a:ln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3722000" y="2404000"/>
            <a:ext cx="17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Backend</a:t>
            </a:r>
          </a:p>
        </p:txBody>
      </p:sp>
      <p:sp>
        <p:nvSpPr>
          <p:cNvPr id="14" name="Shape 14"/>
          <p:cNvSpPr/>
          <p:nvPr/>
        </p:nvSpPr>
        <p:spPr>
          <a:xfrm>
            <a:off x="3872000" y="28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API Gateway</a:t>
            </a:r>
          </a:p>
        </p:txBody>
      </p:sp>
      <p:sp>
        <p:nvSpPr>
          <p:cNvPr id="15" name="Shape 15"/>
          <p:cNvSpPr/>
          <p:nvPr/>
        </p:nvSpPr>
        <p:spPr>
          <a:xfrm>
            <a:off x="3872000" y="37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Auth Service</a:t>
            </a:r>
          </a:p>
        </p:txBody>
      </p:sp>
      <p:sp>
        <p:nvSpPr>
          <p:cNvPr id="16" name="Shape 16"/>
          <p:cNvSpPr/>
          <p:nvPr/>
        </p:nvSpPr>
        <p:spPr>
          <a:xfrm>
            <a:off x="3872000" y="46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Data Service</a:t>
            </a:r>
          </a:p>
        </p:txBody>
      </p:sp>
      <p:sp>
        <p:nvSpPr>
          <p:cNvPr id="19" name="Shape 19"/>
          <p:cNvSpPr/>
          <p:nvPr/>
        </p:nvSpPr>
        <p:spPr>
          <a:xfrm>
            <a:off x="6072000" y="2354000"/>
            <a:ext cx="1800000" cy="2450000"/>
          </a:xfrm>
          <a:prstGeom prst="roundRect">
            <a:avLst/>
          </a:prstGeom>
          <a:solidFill>
            <a:srgbClr val="E8F5E9"/>
          </a:solidFill>
          <a:ln w="1">
            <a:solidFill>
              <a:srgbClr val="757575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6122000" y="2404000"/>
            <a:ext cx="17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Storage</a:t>
            </a:r>
          </a:p>
        </p:txBody>
      </p:sp>
      <p:sp>
        <p:nvSpPr>
          <p:cNvPr id="18" name="Shape 18"/>
          <p:cNvSpPr/>
          <p:nvPr/>
        </p:nvSpPr>
        <p:spPr>
          <a:xfrm>
            <a:off x="6272000" y="28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(PostgreSQL)</a:t>
            </a:r>
          </a:p>
        </p:txBody>
      </p:sp>
      <p:sp>
        <p:nvSpPr>
          <p:cNvPr id="19" name="Shape 19"/>
          <p:cNvSpPr/>
          <p:nvPr/>
        </p:nvSpPr>
        <p:spPr>
          <a:xfrm>
            <a:off x="6272000" y="3704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95" dirty="0">
                <a:solidFill>
                  <a:srgbClr val="000000"/>
                </a:solidFill>
              </a:rPr>
              <a:t>(Redis Cache)</a:t>
            </a:r>
          </a:p>
        </p:txBody>
      </p:sp>
      <p:cxnSp>
        <p:nvCxnSpPr>
          <p:cNvPr id="63" name="Connector 63"/>
          <p:cNvCxnSpPr>
            <a:stCxn id="11" idx="2"/>
            <a:endCxn id="14" idx="0"/>
          </p:cNvCxnSpPr>
          <p:nvPr/>
        </p:nvCxnSpPr>
        <p:spPr>
          <a:xfrm flipV="1">
            <a:off x="2172000" y="2804000"/>
            <a:ext cx="2400000" cy="5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4" name="Connector 64"/>
          <p:cNvCxnSpPr>
            <a:stCxn id="12" idx="2"/>
            <a:endCxn id="14" idx="0"/>
          </p:cNvCxnSpPr>
          <p:nvPr/>
        </p:nvCxnSpPr>
        <p:spPr>
          <a:xfrm flipV="1">
            <a:off x="2172000" y="2804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5" name="Connector 65"/>
          <p:cNvCxnSpPr>
            <a:stCxn id="14" idx="2"/>
            <a:endCxn id="15" idx="0"/>
          </p:cNvCxnSpPr>
          <p:nvPr/>
        </p:nvCxnSpPr>
        <p:spPr>
          <a:xfrm>
            <a:off x="4572000" y="3304000"/>
            <a:ext cx="0" cy="4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            <a:stCxn id="14" idx="2"/>
            <a:endCxn id="16" idx="0"/>
          </p:cNvCxnSpPr>
          <p:nvPr/>
        </p:nvCxnSpPr>
        <p:spPr>
          <a:xfrm>
            <a:off x="4572000" y="3304000"/>
            <a:ext cx="0" cy="13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7" name="Connector 67"/>
          <p:cNvCxnSpPr>
            <a:stCxn id="15" idx="2"/>
            <a:endCxn id="18" idx="0"/>
          </p:cNvCxnSpPr>
          <p:nvPr/>
        </p:nvCxnSpPr>
        <p:spPr>
          <a:xfrm flipV="1">
            <a:off x="4572000" y="2804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8" name="Connector 68"/>
          <p:cNvCxnSpPr>
            <a:stCxn id="16" idx="2"/>
            <a:endCxn id="18" idx="0"/>
          </p:cNvCxnSpPr>
          <p:nvPr/>
        </p:nvCxnSpPr>
        <p:spPr>
          <a:xfrm flipV="1">
            <a:off x="4572000" y="2804000"/>
            <a:ext cx="2400000" cy="23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9" name="Connector 69"/>
          <p:cNvCxnSpPr>
            <a:stCxn id="16" idx="2"/>
            <a:endCxn id="19" idx="0"/>
          </p:cNvCxnSpPr>
          <p:nvPr/>
        </p:nvCxnSpPr>
        <p:spPr>
          <a:xfrm flipV="1">
            <a:off x="4572000" y="3704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Authentication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11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11" name="Shape 11"/>
          <p:cNvSpPr/>
          <p:nvPr/>
        </p:nvSpPr>
        <p:spPr>
          <a:xfrm>
            <a:off x="18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1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13" name="Shape 13"/>
          <p:cNvSpPr/>
          <p:nvPr/>
        </p:nvSpPr>
        <p:spPr>
          <a:xfrm>
            <a:off x="29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4" name="Shape 14"/>
          <p:cNvSpPr/>
          <p:nvPr/>
        </p:nvSpPr>
        <p:spPr>
          <a:xfrm>
            <a:off x="36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29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6" name="Shape 16"/>
          <p:cNvSpPr/>
          <p:nvPr/>
        </p:nvSpPr>
        <p:spPr>
          <a:xfrm>
            <a:off x="47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Auth Server</a:t>
            </a:r>
          </a:p>
        </p:txBody>
      </p:sp>
      <p:sp>
        <p:nvSpPr>
          <p:cNvPr id="17" name="Shape 17"/>
          <p:cNvSpPr/>
          <p:nvPr/>
        </p:nvSpPr>
        <p:spPr>
          <a:xfrm>
            <a:off x="54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47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Auth Server</a:t>
            </a:r>
          </a:p>
        </p:txBody>
      </p:sp>
      <p:sp>
        <p:nvSpPr>
          <p:cNvPr id="19" name="Shape 19"/>
          <p:cNvSpPr/>
          <p:nvPr/>
        </p:nvSpPr>
        <p:spPr>
          <a:xfrm>
            <a:off x="6572000" y="21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20" name="Shape 20"/>
          <p:cNvSpPr/>
          <p:nvPr/>
        </p:nvSpPr>
        <p:spPr>
          <a:xfrm>
            <a:off x="7262000" y="2529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6572000" y="5529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22" name="Shape 22"/>
          <p:cNvSpPr/>
          <p:nvPr/>
        </p:nvSpPr>
        <p:spPr>
          <a:xfrm>
            <a:off x="1872000" y="2729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1872000" y="254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Enter credentials</a:t>
            </a:r>
          </a:p>
        </p:txBody>
      </p:sp>
      <p:sp>
        <p:nvSpPr>
          <p:cNvPr id="24" name="Shape 24"/>
          <p:cNvSpPr/>
          <p:nvPr/>
        </p:nvSpPr>
        <p:spPr>
          <a:xfrm>
            <a:off x="3672000" y="3179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672000" y="299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POST /login</a:t>
            </a:r>
          </a:p>
        </p:txBody>
      </p:sp>
      <p:sp>
        <p:nvSpPr>
          <p:cNvPr id="26" name="Shape 26"/>
          <p:cNvSpPr/>
          <p:nvPr/>
        </p:nvSpPr>
        <p:spPr>
          <a:xfrm>
            <a:off x="5472000" y="3629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5472000" y="344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Validate user</a:t>
            </a:r>
          </a:p>
        </p:txBody>
      </p:sp>
      <p:sp>
        <p:nvSpPr>
          <p:cNvPr id="28" name="Shape 28"/>
          <p:cNvSpPr/>
          <p:nvPr/>
        </p:nvSpPr>
        <p:spPr>
          <a:xfrm>
            <a:off x="5472000" y="4079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5472000" y="389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User data</a:t>
            </a:r>
          </a:p>
        </p:txBody>
      </p:sp>
      <p:sp>
        <p:nvSpPr>
          <p:cNvPr id="30" name="Shape 30"/>
          <p:cNvSpPr/>
          <p:nvPr/>
        </p:nvSpPr>
        <p:spPr>
          <a:xfrm>
            <a:off x="3672000" y="4529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3672000" y="434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JWT Token</a:t>
            </a:r>
          </a:p>
        </p:txBody>
      </p:sp>
      <p:sp>
        <p:nvSpPr>
          <p:cNvPr id="32" name="Shape 32"/>
          <p:cNvSpPr/>
          <p:nvPr/>
        </p:nvSpPr>
        <p:spPr>
          <a:xfrm>
            <a:off x="1872000" y="4979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1872000" y="4799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Login success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</a:t>
            </a:r>
          </a:p>
        </p:txBody>
      </p:sp>
      <p:sp>
        <p:nvSpPr>
          <p:cNvPr id="10" name="Shape 10"/>
          <p:cNvSpPr/>
          <p:nvPr/>
        </p:nvSpPr>
        <p:spPr>
          <a:xfrm>
            <a:off x="1072000" y="1974000"/>
            <a:ext cx="7000000" cy="4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 Development Schedule</a:t>
            </a:r>
          </a:p>
        </p:txBody>
      </p:sp>
      <p:sp>
        <p:nvSpPr>
          <p:cNvPr id="11" name="Shape 11"/>
          <p:cNvSpPr/>
          <p:nvPr/>
        </p:nvSpPr>
        <p:spPr>
          <a:xfrm>
            <a:off x="1072000" y="247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Planning</a:t>
            </a:r>
          </a:p>
        </p:txBody>
      </p:sp>
      <p:sp>
        <p:nvSpPr>
          <p:cNvPr id="12" name="Shape 12"/>
          <p:cNvSpPr/>
          <p:nvPr/>
        </p:nvSpPr>
        <p:spPr>
          <a:xfrm>
            <a:off x="1072000" y="282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Requirements</a:t>
            </a:r>
          </a:p>
        </p:txBody>
      </p:sp>
      <p:sp>
        <p:nvSpPr>
          <p:cNvPr id="13" name="Shape 13"/>
          <p:cNvSpPr/>
          <p:nvPr/>
        </p:nvSpPr>
        <p:spPr>
          <a:xfrm>
            <a:off x="3172000" y="2824000"/>
            <a:ext cx="1800000" cy="250000"/>
          </a:xfrm>
          <a:prstGeom prst="round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1072000" y="310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Design</a:t>
            </a:r>
          </a:p>
        </p:txBody>
      </p:sp>
      <p:sp>
        <p:nvSpPr>
          <p:cNvPr id="15" name="Shape 15"/>
          <p:cNvSpPr/>
          <p:nvPr/>
        </p:nvSpPr>
        <p:spPr>
          <a:xfrm>
            <a:off x="3372000" y="3104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1072000" y="338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Development</a:t>
            </a:r>
          </a:p>
        </p:txBody>
      </p:sp>
      <p:sp>
        <p:nvSpPr>
          <p:cNvPr id="17" name="Shape 17"/>
          <p:cNvSpPr/>
          <p:nvPr/>
        </p:nvSpPr>
        <p:spPr>
          <a:xfrm>
            <a:off x="1072000" y="373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Backend API</a:t>
            </a:r>
          </a:p>
        </p:txBody>
      </p:sp>
      <p:sp>
        <p:nvSpPr>
          <p:cNvPr id="18" name="Shape 18"/>
          <p:cNvSpPr/>
          <p:nvPr/>
        </p:nvSpPr>
        <p:spPr>
          <a:xfrm>
            <a:off x="3172000" y="3734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1072000" y="401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Frontend UI</a:t>
            </a:r>
          </a:p>
        </p:txBody>
      </p:sp>
      <p:sp>
        <p:nvSpPr>
          <p:cNvPr id="20" name="Shape 20"/>
          <p:cNvSpPr/>
          <p:nvPr/>
        </p:nvSpPr>
        <p:spPr>
          <a:xfrm>
            <a:off x="3372000" y="4014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1072000" y="429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Integration</a:t>
            </a:r>
          </a:p>
        </p:txBody>
      </p:sp>
      <p:sp>
        <p:nvSpPr>
          <p:cNvPr id="22" name="Shape 22"/>
          <p:cNvSpPr/>
          <p:nvPr/>
        </p:nvSpPr>
        <p:spPr>
          <a:xfrm>
            <a:off x="3572000" y="4294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1072000" y="457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Testing</a:t>
            </a:r>
          </a:p>
        </p:txBody>
      </p:sp>
      <p:sp>
        <p:nvSpPr>
          <p:cNvPr id="24" name="Shape 24"/>
          <p:cNvSpPr/>
          <p:nvPr/>
        </p:nvSpPr>
        <p:spPr>
          <a:xfrm>
            <a:off x="1072000" y="492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QA Testing</a:t>
            </a:r>
          </a:p>
        </p:txBody>
      </p:sp>
      <p:sp>
        <p:nvSpPr>
          <p:cNvPr id="25" name="Shape 25"/>
          <p:cNvSpPr/>
          <p:nvPr/>
        </p:nvSpPr>
        <p:spPr>
          <a:xfrm>
            <a:off x="3172000" y="4924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1072000" y="520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UAT</a:t>
            </a:r>
          </a:p>
        </p:txBody>
      </p:sp>
      <p:sp>
        <p:nvSpPr>
          <p:cNvPr id="27" name="Shape 27"/>
          <p:cNvSpPr/>
          <p:nvPr/>
        </p:nvSpPr>
        <p:spPr>
          <a:xfrm>
            <a:off x="3372000" y="5204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1072000" y="5484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Launch</a:t>
            </a:r>
          </a:p>
        </p:txBody>
      </p:sp>
      <p:sp>
        <p:nvSpPr>
          <p:cNvPr id="29" name="Shape 29"/>
          <p:cNvSpPr/>
          <p:nvPr/>
        </p:nvSpPr>
        <p:spPr>
          <a:xfrm>
            <a:off x="1072000" y="5834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Deployment</a:t>
            </a:r>
          </a:p>
        </p:txBody>
      </p:sp>
      <p:sp>
        <p:nvSpPr>
          <p:cNvPr id="30" name="Shape 30"/>
          <p:cNvSpPr/>
          <p:nvPr/>
        </p:nvSpPr>
        <p:spPr>
          <a:xfrm>
            <a:off x="3172000" y="5834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Model</a:t>
            </a:r>
          </a:p>
        </p:txBody>
      </p:sp>
      <p:sp>
        <p:nvSpPr>
          <p:cNvPr id="10" name="Shape 10"/>
          <p:cNvSpPr/>
          <p:nvPr/>
        </p:nvSpPr>
        <p:spPr>
          <a:xfrm>
            <a:off x="672000" y="20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11" name="Shape 11"/>
          <p:cNvSpPr/>
          <p:nvPr/>
        </p:nvSpPr>
        <p:spPr>
          <a:xfrm>
            <a:off x="672000" y="24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string name
string email
date created_at</a:t>
            </a:r>
          </a:p>
        </p:txBody>
      </p:sp>
      <p:sp>
        <p:nvSpPr>
          <p:cNvPr id="12" name="Shape 12"/>
          <p:cNvSpPr/>
          <p:nvPr/>
        </p:nvSpPr>
        <p:spPr>
          <a:xfrm>
            <a:off x="3472000" y="20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ORDER</a:t>
            </a:r>
          </a:p>
        </p:txBody>
      </p:sp>
      <p:sp>
        <p:nvSpPr>
          <p:cNvPr id="13" name="Shape 13"/>
          <p:cNvSpPr/>
          <p:nvPr/>
        </p:nvSpPr>
        <p:spPr>
          <a:xfrm>
            <a:off x="3472000" y="24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int user_id FK
date order_date
decimal total</a:t>
            </a:r>
          </a:p>
        </p:txBody>
      </p:sp>
      <p:sp>
        <p:nvSpPr>
          <p:cNvPr id="14" name="Shape 14"/>
          <p:cNvSpPr/>
          <p:nvPr/>
        </p:nvSpPr>
        <p:spPr>
          <a:xfrm>
            <a:off x="6272000" y="20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15" name="Shape 15"/>
          <p:cNvSpPr/>
          <p:nvPr/>
        </p:nvSpPr>
        <p:spPr>
          <a:xfrm>
            <a:off x="6272000" y="24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string name
decimal price
int stock</a:t>
            </a:r>
          </a:p>
        </p:txBody>
      </p:sp>
      <p:sp>
        <p:nvSpPr>
          <p:cNvPr id="16" name="Shape 16"/>
          <p:cNvSpPr/>
          <p:nvPr/>
        </p:nvSpPr>
        <p:spPr>
          <a:xfrm>
            <a:off x="672000" y="4519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LINE_ITEM</a:t>
            </a:r>
          </a:p>
        </p:txBody>
      </p:sp>
      <p:sp>
        <p:nvSpPr>
          <p:cNvPr id="17" name="Shape 17"/>
          <p:cNvSpPr/>
          <p:nvPr/>
        </p:nvSpPr>
        <p:spPr>
          <a:xfrm>
            <a:off x="672000" y="4919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763" dirty="0">
                <a:solidFill>
                  <a:srgbClr val="000000"/>
                </a:solidFill>
              </a:rPr>
              <a:t>int id PK
int order_id FK
int product_id FK
int quantity</a:t>
            </a:r>
          </a:p>
        </p:txBody>
      </p:sp>
      <p:sp>
        <p:nvSpPr>
          <p:cNvPr id="18" name="Shape 18"/>
          <p:cNvSpPr/>
          <p:nvPr/>
        </p:nvSpPr>
        <p:spPr>
          <a:xfrm>
            <a:off x="2672000" y="2094000"/>
            <a:ext cx="1000000" cy="250000"/>
          </a:xfrm>
          <a:prstGeom prst="roundRect">
            <a:avLst/>
          </a:prstGeom>
          <a:solidFill>
            <a:srgbClr val="FFFFFF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places</a:t>
            </a:r>
          </a:p>
        </p:txBody>
      </p:sp>
      <p:sp>
        <p:nvSpPr>
          <p:cNvPr id="19" name="Shape 19"/>
          <p:cNvSpPr/>
          <p:nvPr/>
        </p:nvSpPr>
        <p:spPr>
          <a:xfrm>
            <a:off x="2672000" y="3344000"/>
            <a:ext cx="1000000" cy="250000"/>
          </a:xfrm>
          <a:prstGeom prst="roundRect">
            <a:avLst/>
          </a:prstGeom>
          <a:solidFill>
            <a:srgbClr val="FFFFFF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contains</a:t>
            </a:r>
          </a:p>
        </p:txBody>
      </p:sp>
      <p:sp>
        <p:nvSpPr>
          <p:cNvPr id="20" name="Shape 20"/>
          <p:cNvSpPr/>
          <p:nvPr/>
        </p:nvSpPr>
        <p:spPr>
          <a:xfrm>
            <a:off x="4072000" y="3344000"/>
            <a:ext cx="1000000" cy="250000"/>
          </a:xfrm>
          <a:prstGeom prst="roundRect">
            <a:avLst/>
          </a:prstGeom>
          <a:solidFill>
            <a:srgbClr val="FFFFFF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ordered in</a:t>
            </a:r>
          </a:p>
        </p:txBody>
      </p:sp>
      <p:cxnSp>
        <p:nvCxnSpPr>
          <p:cNvPr id="61" name="Connector 61"/>
          <p:cNvCxnSpPr>
            <a:stCxn id="10" idx="1"/>
            <a:endCxn id="12" idx="3"/>
          </p:cNvCxnSpPr>
          <p:nvPr/>
        </p:nvCxnSpPr>
        <p:spPr>
          <a:xfrm>
            <a:off x="2872000" y="2219000"/>
            <a:ext cx="600000" cy="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  <p:cxnSp>
        <p:nvCxnSpPr>
          <p:cNvPr id="62" name="Connector 62"/>
          <p:cNvCxnSpPr>
            <a:stCxn id="12" idx="3"/>
            <a:endCxn id="16" idx="1"/>
          </p:cNvCxnSpPr>
          <p:nvPr/>
        </p:nvCxnSpPr>
        <p:spPr>
          <a:xfrm flipH="1">
            <a:off x="672000" y="2219000"/>
            <a:ext cx="5000000" cy="250000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  <p:cxnSp>
        <p:nvCxnSpPr>
          <p:cNvPr id="63" name="Connector 63"/>
          <p:cNvCxnSpPr>
            <a:stCxn id="14" idx="3"/>
            <a:endCxn id="16" idx="1"/>
          </p:cNvCxnSpPr>
          <p:nvPr/>
        </p:nvCxnSpPr>
        <p:spPr>
          <a:xfrm flipH="1">
            <a:off x="672000" y="2219000"/>
            <a:ext cx="7800000" cy="250000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Application States</a:t>
            </a:r>
          </a:p>
        </p:txBody>
      </p:sp>
      <p:sp>
        <p:nvSpPr>
          <p:cNvPr id="10" name="Shape 10"/>
          <p:cNvSpPr/>
          <p:nvPr/>
        </p:nvSpPr>
        <p:spPr>
          <a:xfrm>
            <a:off x="1622000" y="3179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1" name="Shape 11"/>
          <p:cNvSpPr/>
          <p:nvPr/>
        </p:nvSpPr>
        <p:spPr>
          <a:xfrm>
            <a:off x="3822000" y="31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12" name="Shape 12"/>
          <p:cNvSpPr/>
          <p:nvPr/>
        </p:nvSpPr>
        <p:spPr>
          <a:xfrm>
            <a:off x="6022000" y="31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Loading</a:t>
            </a:r>
          </a:p>
        </p:txBody>
      </p:sp>
      <p:sp>
        <p:nvSpPr>
          <p:cNvPr id="13" name="Shape 13"/>
          <p:cNvSpPr/>
          <p:nvPr/>
        </p:nvSpPr>
        <p:spPr>
          <a:xfrm>
            <a:off x="1622000" y="43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Success</a:t>
            </a:r>
          </a:p>
        </p:txBody>
      </p:sp>
      <p:sp>
        <p:nvSpPr>
          <p:cNvPr id="14" name="Shape 14"/>
          <p:cNvSpPr/>
          <p:nvPr/>
        </p:nvSpPr>
        <p:spPr>
          <a:xfrm>
            <a:off x="3822000" y="4379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Error</a:t>
            </a:r>
          </a:p>
        </p:txBody>
      </p:sp>
      <p:sp>
        <p:nvSpPr>
          <p:cNvPr id="15" name="Shape 15"/>
          <p:cNvSpPr/>
          <p:nvPr/>
        </p:nvSpPr>
        <p:spPr>
          <a:xfrm>
            <a:off x="6022000" y="4379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6" name="Shape 16"/>
          <p:cNvSpPr/>
          <p:nvPr/>
        </p:nvSpPr>
        <p:spPr>
          <a:xfrm>
            <a:off x="5272000" y="33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fetch data</a:t>
            </a:r>
          </a:p>
        </p:txBody>
      </p:sp>
      <p:sp>
        <p:nvSpPr>
          <p:cNvPr id="17" name="Shape 17"/>
          <p:cNvSpPr/>
          <p:nvPr/>
        </p:nvSpPr>
        <p:spPr>
          <a:xfrm>
            <a:off x="41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969" dirty="0">
                <a:solidFill>
                  <a:srgbClr val="000000"/>
                </a:solidFill>
              </a:rPr>
              <a:t>data received</a:t>
            </a:r>
          </a:p>
        </p:txBody>
      </p:sp>
      <p:sp>
        <p:nvSpPr>
          <p:cNvPr id="18" name="Shape 18"/>
          <p:cNvSpPr/>
          <p:nvPr/>
        </p:nvSpPr>
        <p:spPr>
          <a:xfrm>
            <a:off x="52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99" dirty="0">
                <a:solidFill>
                  <a:srgbClr val="000000"/>
                </a:solidFill>
              </a:rPr>
              <a:t>request failed</a:t>
            </a:r>
          </a:p>
        </p:txBody>
      </p:sp>
      <p:sp>
        <p:nvSpPr>
          <p:cNvPr id="19" name="Shape 19"/>
          <p:cNvSpPr/>
          <p:nvPr/>
        </p:nvSpPr>
        <p:spPr>
          <a:xfrm>
            <a:off x="30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reset</a:t>
            </a:r>
          </a:p>
        </p:txBody>
      </p:sp>
      <p:sp>
        <p:nvSpPr>
          <p:cNvPr id="20" name="Shape 20"/>
          <p:cNvSpPr/>
          <p:nvPr/>
        </p:nvSpPr>
        <p:spPr>
          <a:xfrm>
            <a:off x="52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retry</a:t>
            </a:r>
          </a:p>
        </p:txBody>
      </p:sp>
      <p:sp>
        <p:nvSpPr>
          <p:cNvPr id="21" name="Shape 21"/>
          <p:cNvSpPr/>
          <p:nvPr/>
        </p:nvSpPr>
        <p:spPr>
          <a:xfrm>
            <a:off x="4172000" y="3904000"/>
            <a:ext cx="800000" cy="250000"/>
          </a:xfrm>
          <a:prstGeom prst="roundRect">
            <a:avLst/>
          </a:prstGeom>
          <a:solidFill>
            <a:srgbClr val="FFFDE7"/>
          </a:solidFill>
          <a:ln w="1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cancel</a:t>
            </a:r>
          </a:p>
        </p:txBody>
      </p:sp>
      <p:cxnSp>
        <p:nvCxnSpPr>
          <p:cNvPr id="62" name="Connector 62"/>
          <p:cNvCxnSpPr>
            <a:stCxn id="10" idx="1"/>
            <a:endCxn id="11" idx="3"/>
          </p:cNvCxnSpPr>
          <p:nvPr/>
        </p:nvCxnSpPr>
        <p:spPr>
          <a:xfrm>
            <a:off x="3122000" y="3429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3" name="Connector 63"/>
          <p:cNvCxnSpPr>
            <a:stCxn id="11" idx="1"/>
            <a:endCxn id="12" idx="3"/>
          </p:cNvCxnSpPr>
          <p:nvPr/>
        </p:nvCxnSpPr>
        <p:spPr>
          <a:xfrm>
            <a:off x="5322000" y="3429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4" name="Connector 64"/>
          <p:cNvCxnSpPr>
            <a:stCxn id="12" idx="3"/>
            <a:endCxn id="13" idx="1"/>
          </p:cNvCxnSpPr>
          <p:nvPr/>
        </p:nvCxnSpPr>
        <p:spPr>
          <a:xfrm flipH="1">
            <a:off x="1622000" y="3429000"/>
            <a:ext cx="59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5" name="Connector 65"/>
          <p:cNvCxnSpPr>
            <a:stCxn id="12" idx="3"/>
            <a:endCxn id="14" idx="1"/>
          </p:cNvCxnSpPr>
          <p:nvPr/>
        </p:nvCxnSpPr>
        <p:spPr>
          <a:xfrm flipH="1">
            <a:off x="3822000" y="3429000"/>
            <a:ext cx="3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            <a:stCxn id="13" idx="1"/>
            <a:endCxn id="11" idx="3"/>
          </p:cNvCxnSpPr>
          <p:nvPr/>
        </p:nvCxnSpPr>
        <p:spPr>
          <a:xfrm flipV="1">
            <a:off x="3122000" y="3429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7" name="Connector 67"/>
          <p:cNvCxnSpPr>
            <a:stCxn id="14" idx="1"/>
            <a:endCxn id="12" idx="3"/>
          </p:cNvCxnSpPr>
          <p:nvPr/>
        </p:nvCxnSpPr>
        <p:spPr>
          <a:xfrm flipV="1">
            <a:off x="5322000" y="3429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8" name="Connector 68"/>
          <p:cNvCxnSpPr>
            <a:stCxn id="14" idx="0"/>
            <a:endCxn id="11" idx="2"/>
          </p:cNvCxnSpPr>
          <p:nvPr/>
        </p:nvCxnSpPr>
        <p:spPr>
          <a:xfrm flipH="1" flipV="1">
            <a:off x="3822000" y="3429000"/>
            <a:ext cx="15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69" name="Connector 69"/>
          <p:cNvCxnSpPr>
            <a:stCxn id="13" idx="1"/>
            <a:endCxn id="15" idx="3"/>
          </p:cNvCxnSpPr>
          <p:nvPr/>
        </p:nvCxnSpPr>
        <p:spPr>
          <a:xfrm>
            <a:off x="3122000" y="4629000"/>
            <a:ext cx="29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Class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1072000" y="2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1" name="Shape 11"/>
          <p:cNvSpPr/>
          <p:nvPr/>
        </p:nvSpPr>
        <p:spPr>
          <a:xfrm>
            <a:off x="1072000" y="2954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574" dirty="0">
                <a:solidFill>
                  <a:srgbClr val="000000"/>
                </a:solidFill>
              </a:rPr>
              <a:t>+String title
+List~Slide~ slides</a:t>
            </a:r>
          </a:p>
        </p:txBody>
      </p:sp>
      <p:sp>
        <p:nvSpPr>
          <p:cNvPr id="12" name="Shape 12"/>
          <p:cNvSpPr/>
          <p:nvPr/>
        </p:nvSpPr>
        <p:spPr>
          <a:xfrm>
            <a:off x="1072000" y="3454000"/>
            <a:ext cx="2000000" cy="50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574" dirty="0">
                <a:solidFill>
                  <a:srgbClr val="000000"/>
                </a:solidFill>
              </a:rPr>
              <a:t>+addSlide()
+save()</a:t>
            </a:r>
          </a:p>
        </p:txBody>
      </p:sp>
      <p:sp>
        <p:nvSpPr>
          <p:cNvPr id="13" name="Shape 13"/>
          <p:cNvSpPr/>
          <p:nvPr/>
        </p:nvSpPr>
        <p:spPr>
          <a:xfrm>
            <a:off x="3572000" y="2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Slide</a:t>
            </a:r>
          </a:p>
        </p:txBody>
      </p:sp>
      <p:sp>
        <p:nvSpPr>
          <p:cNvPr id="14" name="Shape 14"/>
          <p:cNvSpPr/>
          <p:nvPr/>
        </p:nvSpPr>
        <p:spPr>
          <a:xfrm>
            <a:off x="3572000" y="2954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369" dirty="0">
                <a:solidFill>
                  <a:srgbClr val="000000"/>
                </a:solidFill>
              </a:rPr>
              <a:t>+String title
+List~Element~ elements</a:t>
            </a:r>
          </a:p>
        </p:txBody>
      </p:sp>
      <p:sp>
        <p:nvSpPr>
          <p:cNvPr id="15" name="Shape 15"/>
          <p:cNvSpPr/>
          <p:nvPr/>
        </p:nvSpPr>
        <p:spPr>
          <a:xfrm>
            <a:off x="3572000" y="345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+addElement()</a:t>
            </a:r>
          </a:p>
        </p:txBody>
      </p:sp>
      <p:sp>
        <p:nvSpPr>
          <p:cNvPr id="16" name="Shape 16"/>
          <p:cNvSpPr/>
          <p:nvPr/>
        </p:nvSpPr>
        <p:spPr>
          <a:xfrm>
            <a:off x="6072000" y="2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Element</a:t>
            </a:r>
          </a:p>
        </p:txBody>
      </p:sp>
      <p:sp>
        <p:nvSpPr>
          <p:cNvPr id="17" name="Shape 17"/>
          <p:cNvSpPr/>
          <p:nvPr/>
        </p:nvSpPr>
        <p:spPr>
          <a:xfrm>
            <a:off x="6072000" y="2954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&lt;&lt;interface&gt;&gt;</a:t>
            </a:r>
          </a:p>
        </p:txBody>
      </p:sp>
      <p:sp>
        <p:nvSpPr>
          <p:cNvPr id="18" name="Shape 18"/>
          <p:cNvSpPr/>
          <p:nvPr/>
        </p:nvSpPr>
        <p:spPr>
          <a:xfrm>
            <a:off x="6072000" y="320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sp>
        <p:nvSpPr>
          <p:cNvPr id="19" name="Shape 19"/>
          <p:cNvSpPr/>
          <p:nvPr/>
        </p:nvSpPr>
        <p:spPr>
          <a:xfrm>
            <a:off x="1072000" y="4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TextBox</a:t>
            </a:r>
          </a:p>
        </p:txBody>
      </p:sp>
      <p:sp>
        <p:nvSpPr>
          <p:cNvPr id="20" name="Shape 20"/>
          <p:cNvSpPr/>
          <p:nvPr/>
        </p:nvSpPr>
        <p:spPr>
          <a:xfrm>
            <a:off x="1072000" y="4954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+String text</a:t>
            </a:r>
          </a:p>
        </p:txBody>
      </p:sp>
      <p:sp>
        <p:nvSpPr>
          <p:cNvPr id="21" name="Shape 21"/>
          <p:cNvSpPr/>
          <p:nvPr/>
        </p:nvSpPr>
        <p:spPr>
          <a:xfrm>
            <a:off x="1072000" y="520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sp>
        <p:nvSpPr>
          <p:cNvPr id="22" name="Shape 22"/>
          <p:cNvSpPr/>
          <p:nvPr/>
        </p:nvSpPr>
        <p:spPr>
          <a:xfrm>
            <a:off x="3572000" y="4604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Table</a:t>
            </a:r>
          </a:p>
        </p:txBody>
      </p:sp>
      <p:sp>
        <p:nvSpPr>
          <p:cNvPr id="23" name="Shape 23"/>
          <p:cNvSpPr/>
          <p:nvPr/>
        </p:nvSpPr>
        <p:spPr>
          <a:xfrm>
            <a:off x="3572000" y="4954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+List~Row~ rows</a:t>
            </a:r>
          </a:p>
        </p:txBody>
      </p:sp>
      <p:sp>
        <p:nvSpPr>
          <p:cNvPr id="24" name="Shape 24"/>
          <p:cNvSpPr/>
          <p:nvPr/>
        </p:nvSpPr>
        <p:spPr>
          <a:xfrm>
            <a:off x="3572000" y="5204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cxnSp>
        <p:nvCxnSpPr>
          <p:cNvPr id="65" name="Connector 65"/>
          <p:cNvCxnSpPr>
            <a:stCxn id="16" idx="2"/>
            <a:endCxn id="19" idx="0"/>
          </p:cNvCxnSpPr>
          <p:nvPr/>
        </p:nvCxnSpPr>
        <p:spPr>
          <a:xfrm flipH="1">
            <a:off x="2072000" y="2604000"/>
            <a:ext cx="50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            <a:stCxn id="16" idx="2"/>
            <a:endCxn id="22" idx="0"/>
          </p:cNvCxnSpPr>
          <p:nvPr/>
        </p:nvCxnSpPr>
        <p:spPr>
          <a:xfrm flipH="1">
            <a:off x="4572000" y="2604000"/>
            <a:ext cx="25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Journey</a:t>
            </a:r>
          </a:p>
        </p:txBody>
      </p:sp>
      <p:sp>
        <p:nvSpPr>
          <p:cNvPr id="10" name="Shape 10"/>
          <p:cNvSpPr/>
          <p:nvPr/>
        </p:nvSpPr>
        <p:spPr>
          <a:xfrm>
            <a:off x="1372000" y="3254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11" name="Shape 11"/>
          <p:cNvSpPr/>
          <p:nvPr/>
        </p:nvSpPr>
        <p:spPr>
          <a:xfrm>
            <a:off x="1422000" y="36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0" dirty="0">
                <a:solidFill>
                  <a:srgbClr val="000000"/>
                </a:solidFill>
              </a:rPr>
              <a:t>Visit website (5)</a:t>
            </a:r>
          </a:p>
        </p:txBody>
      </p:sp>
      <p:sp>
        <p:nvSpPr>
          <p:cNvPr id="12" name="Shape 12"/>
          <p:cNvSpPr/>
          <p:nvPr/>
        </p:nvSpPr>
        <p:spPr>
          <a:xfrm>
            <a:off x="1422000" y="4054000"/>
            <a:ext cx="1900000" cy="35000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0" dirty="0">
                <a:solidFill>
                  <a:srgbClr val="000000"/>
                </a:solidFill>
              </a:rPr>
              <a:t>Read features (4)</a:t>
            </a:r>
          </a:p>
        </p:txBody>
      </p:sp>
      <p:sp>
        <p:nvSpPr>
          <p:cNvPr id="13" name="Shape 13"/>
          <p:cNvSpPr/>
          <p:nvPr/>
        </p:nvSpPr>
        <p:spPr>
          <a:xfrm>
            <a:off x="1422000" y="44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137" dirty="0">
                <a:solidFill>
                  <a:srgbClr val="000000"/>
                </a:solidFill>
              </a:rPr>
              <a:t>Watch demo (5)</a:t>
            </a:r>
          </a:p>
        </p:txBody>
      </p:sp>
      <p:sp>
        <p:nvSpPr>
          <p:cNvPr id="14" name="Shape 14"/>
          <p:cNvSpPr/>
          <p:nvPr/>
        </p:nvSpPr>
        <p:spPr>
          <a:xfrm>
            <a:off x="3572000" y="3254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Signup</a:t>
            </a:r>
          </a:p>
        </p:txBody>
      </p:sp>
      <p:sp>
        <p:nvSpPr>
          <p:cNvPr id="15" name="Shape 15"/>
          <p:cNvSpPr/>
          <p:nvPr/>
        </p:nvSpPr>
        <p:spPr>
          <a:xfrm>
            <a:off x="3622000" y="3654000"/>
            <a:ext cx="1900000" cy="35000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62" dirty="0">
                <a:solidFill>
                  <a:srgbClr val="000000"/>
                </a:solidFill>
              </a:rPr>
              <a:t>Create account (3)</a:t>
            </a:r>
          </a:p>
        </p:txBody>
      </p:sp>
      <p:sp>
        <p:nvSpPr>
          <p:cNvPr id="16" name="Shape 16"/>
          <p:cNvSpPr/>
          <p:nvPr/>
        </p:nvSpPr>
        <p:spPr>
          <a:xfrm>
            <a:off x="3622000" y="4054000"/>
            <a:ext cx="1900000" cy="350000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70" dirty="0">
                <a:solidFill>
                  <a:srgbClr val="000000"/>
                </a:solidFill>
              </a:rPr>
              <a:t>Verify email (2)</a:t>
            </a:r>
          </a:p>
        </p:txBody>
      </p:sp>
      <p:sp>
        <p:nvSpPr>
          <p:cNvPr id="17" name="Shape 17"/>
          <p:cNvSpPr/>
          <p:nvPr/>
        </p:nvSpPr>
        <p:spPr>
          <a:xfrm>
            <a:off x="3622000" y="4454000"/>
            <a:ext cx="1900000" cy="35000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96" dirty="0">
                <a:solidFill>
                  <a:srgbClr val="000000"/>
                </a:solidFill>
              </a:rPr>
              <a:t>Complete profile (3)</a:t>
            </a:r>
          </a:p>
        </p:txBody>
      </p:sp>
      <p:sp>
        <p:nvSpPr>
          <p:cNvPr id="18" name="Shape 18"/>
          <p:cNvSpPr/>
          <p:nvPr/>
        </p:nvSpPr>
        <p:spPr>
          <a:xfrm>
            <a:off x="5772000" y="3254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First Use</a:t>
            </a:r>
          </a:p>
        </p:txBody>
      </p:sp>
      <p:sp>
        <p:nvSpPr>
          <p:cNvPr id="19" name="Shape 19"/>
          <p:cNvSpPr/>
          <p:nvPr/>
        </p:nvSpPr>
        <p:spPr>
          <a:xfrm>
            <a:off x="5822000" y="3654000"/>
            <a:ext cx="1900000" cy="35000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031" dirty="0">
                <a:solidFill>
                  <a:srgbClr val="000000"/>
                </a:solidFill>
              </a:rPr>
              <a:t>Create first presentation (4)</a:t>
            </a:r>
          </a:p>
        </p:txBody>
      </p:sp>
      <p:sp>
        <p:nvSpPr>
          <p:cNvPr id="20" name="Shape 20"/>
          <p:cNvSpPr/>
          <p:nvPr/>
        </p:nvSpPr>
        <p:spPr>
          <a:xfrm>
            <a:off x="5822000" y="40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62" dirty="0">
                <a:solidFill>
                  <a:srgbClr val="000000"/>
                </a:solidFill>
              </a:rPr>
              <a:t>Export to PPTX (5)</a:t>
            </a:r>
          </a:p>
        </p:txBody>
      </p:sp>
      <p:sp>
        <p:nvSpPr>
          <p:cNvPr id="21" name="Shape 21"/>
          <p:cNvSpPr/>
          <p:nvPr/>
        </p:nvSpPr>
        <p:spPr>
          <a:xfrm>
            <a:off x="5822000" y="4454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Share with team (5)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Market Analysis</a:t>
            </a:r>
          </a:p>
        </p:txBody>
      </p:sp>
      <p:sp>
        <p:nvSpPr>
          <p:cNvPr id="10" name="Shape 10"/>
          <p:cNvSpPr/>
          <p:nvPr/>
        </p:nvSpPr>
        <p:spPr>
          <a:xfrm>
            <a:off x="1172000" y="2529000"/>
            <a:ext cx="3000000" cy="3000000"/>
          </a:xfrm>
          <a:prstGeom prst="ellipse">
            <a:avLst/>
          </a:prstGeom>
          <a:solidFill>
            <a:srgbClr val="4472C4"/>
          </a:solidFill>
          <a:ln w="2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5172000" y="3029000"/>
            <a:ext cx="200000" cy="2000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472000" y="302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Our Product (35.0%)</a:t>
            </a:r>
          </a:p>
        </p:txBody>
      </p:sp>
      <p:sp>
        <p:nvSpPr>
          <p:cNvPr id="13" name="Shape 13"/>
          <p:cNvSpPr/>
          <p:nvPr/>
        </p:nvSpPr>
        <p:spPr>
          <a:xfrm>
            <a:off x="5172000" y="3379000"/>
            <a:ext cx="200000" cy="200000"/>
          </a:xfrm>
          <a:prstGeom prst="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5472000" y="337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A (25.0%)</a:t>
            </a:r>
          </a:p>
        </p:txBody>
      </p:sp>
      <p:sp>
        <p:nvSpPr>
          <p:cNvPr id="15" name="Shape 15"/>
          <p:cNvSpPr/>
          <p:nvPr/>
        </p:nvSpPr>
        <p:spPr>
          <a:xfrm>
            <a:off x="5172000" y="3729000"/>
            <a:ext cx="200000" cy="2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472000" y="372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B (20.0%)</a:t>
            </a:r>
          </a:p>
        </p:txBody>
      </p:sp>
      <p:sp>
        <p:nvSpPr>
          <p:cNvPr id="17" name="Shape 17"/>
          <p:cNvSpPr/>
          <p:nvPr/>
        </p:nvSpPr>
        <p:spPr>
          <a:xfrm>
            <a:off x="5172000" y="4079000"/>
            <a:ext cx="200000" cy="200000"/>
          </a:xfrm>
          <a:prstGeom prst="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5472000" y="407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C (12.0%)</a:t>
            </a:r>
          </a:p>
        </p:txBody>
      </p:sp>
      <p:sp>
        <p:nvSpPr>
          <p:cNvPr id="19" name="Shape 19"/>
          <p:cNvSpPr/>
          <p:nvPr/>
        </p:nvSpPr>
        <p:spPr>
          <a:xfrm>
            <a:off x="5172000" y="4429000"/>
            <a:ext cx="200000" cy="200000"/>
          </a:xfrm>
          <a:prstGeom prst="rect">
            <a:avLst/>
          </a:prstGeom>
          <a:solidFill>
            <a:srgbClr val="5B9BD5"/>
          </a:solidFill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5472000" y="4429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Others (8.0%)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Feature Priorities</a:t>
            </a:r>
          </a:p>
        </p:txBody>
      </p:sp>
      <p:sp>
        <p:nvSpPr>
          <p:cNvPr id="10" name="Shape 10"/>
          <p:cNvSpPr/>
          <p:nvPr/>
        </p:nvSpPr>
        <p:spPr>
          <a:xfrm>
            <a:off x="4372000" y="2029000"/>
            <a:ext cx="3000000" cy="2000000"/>
          </a:xfrm>
          <a:prstGeom prst="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1372000" y="2029000"/>
            <a:ext cx="3000000" cy="2000000"/>
          </a:xfrm>
          <a:prstGeom prst="rect">
            <a:avLst/>
          </a:prstGeom>
          <a:solidFill>
            <a:srgbClr val="BBDEFB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372000" y="4029000"/>
            <a:ext cx="3000000" cy="2000000"/>
          </a:xfrm>
          <a:prstGeom prst="rect">
            <a:avLst/>
          </a:prstGeom>
          <a:solidFill>
            <a:srgbClr val="FFECB3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4372000" y="4029000"/>
            <a:ext cx="3000000" cy="2000000"/>
          </a:xfrm>
          <a:prstGeom prst="rect">
            <a:avLst/>
          </a:prstGeom>
          <a:solidFill>
            <a:srgbClr val="FFCDD2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2422000" y="22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2772000" y="232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Tables:</a:t>
            </a:r>
          </a:p>
        </p:txBody>
      </p:sp>
      <p:sp>
        <p:nvSpPr>
          <p:cNvPr id="16" name="Shape 16"/>
          <p:cNvSpPr/>
          <p:nvPr/>
        </p:nvSpPr>
        <p:spPr>
          <a:xfrm>
            <a:off x="4822000" y="2478999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5172000" y="2528999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Mermaid:</a:t>
            </a:r>
          </a:p>
        </p:txBody>
      </p:sp>
      <p:sp>
        <p:nvSpPr>
          <p:cNvPr id="18" name="Shape 18"/>
          <p:cNvSpPr/>
          <p:nvPr/>
        </p:nvSpPr>
        <p:spPr>
          <a:xfrm>
            <a:off x="6022000" y="42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6372000" y="432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145" dirty="0">
                <a:solidFill>
                  <a:srgbClr val="000000"/>
                </a:solidFill>
              </a:rPr>
              <a:t>Animations:</a:t>
            </a:r>
          </a:p>
        </p:txBody>
      </p:sp>
      <p:sp>
        <p:nvSpPr>
          <p:cNvPr id="20" name="Shape 20"/>
          <p:cNvSpPr/>
          <p:nvPr/>
        </p:nvSpPr>
        <p:spPr>
          <a:xfrm>
            <a:off x="3022000" y="38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3372000" y="392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Themes:</a:t>
            </a:r>
          </a:p>
        </p:txBody>
      </p:sp>
      <p:sp>
        <p:nvSpPr>
          <p:cNvPr id="22" name="Shape 22"/>
          <p:cNvSpPr/>
          <p:nvPr/>
        </p:nvSpPr>
        <p:spPr>
          <a:xfrm>
            <a:off x="3622000" y="30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3972000" y="312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145" dirty="0">
                <a:solidFill>
                  <a:srgbClr val="000000"/>
                </a:solidFill>
              </a:rPr>
              <a:t>Export PDF:</a:t>
            </a:r>
          </a:p>
        </p:txBody>
      </p:sp>
      <p:sp>
        <p:nvSpPr>
          <p:cNvPr id="24" name="Shape 24"/>
          <p:cNvSpPr/>
          <p:nvPr/>
        </p:nvSpPr>
        <p:spPr>
          <a:xfrm>
            <a:off x="6622000" y="4679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6972000" y="472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3D Models: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Development History</a:t>
            </a:r>
          </a:p>
        </p:txBody>
      </p:sp>
      <p:sp>
        <p:nvSpPr>
          <p:cNvPr id="10" name="Shape 10"/>
          <p:cNvSpPr/>
          <p:nvPr/>
        </p:nvSpPr>
        <p:spPr>
          <a:xfrm>
            <a:off x="872000" y="3479000"/>
            <a:ext cx="700000" cy="2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11" name="Shape 11"/>
          <p:cNvSpPr/>
          <p:nvPr/>
        </p:nvSpPr>
        <p:spPr>
          <a:xfrm>
            <a:off x="1672000" y="3554000"/>
            <a:ext cx="6600000" cy="50000"/>
          </a:xfrm>
          <a:prstGeom prst="rect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872000" y="4079000"/>
            <a:ext cx="700000" cy="2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feature/tables</a:t>
            </a:r>
          </a:p>
        </p:txBody>
      </p:sp>
      <p:sp>
        <p:nvSpPr>
          <p:cNvPr id="13" name="Shape 13"/>
          <p:cNvSpPr/>
          <p:nvPr/>
        </p:nvSpPr>
        <p:spPr>
          <a:xfrm>
            <a:off x="1672000" y="4154000"/>
            <a:ext cx="6600000" cy="50000"/>
          </a:xfrm>
          <a:prstGeom prst="rect">
            <a:avLst/>
          </a:prstGeom>
          <a:solidFill>
            <a:srgbClr val="2E7D32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872000" y="4679000"/>
            <a:ext cx="700000" cy="200000"/>
          </a:xfrm>
          <a:prstGeom prst="round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feature/mermaid</a:t>
            </a:r>
          </a:p>
        </p:txBody>
      </p:sp>
      <p:sp>
        <p:nvSpPr>
          <p:cNvPr id="15" name="Shape 15"/>
          <p:cNvSpPr/>
          <p:nvPr/>
        </p:nvSpPr>
        <p:spPr>
          <a:xfrm>
            <a:off x="1672000" y="4754000"/>
            <a:ext cx="6600000" cy="50000"/>
          </a:xfrm>
          <a:prstGeom prst="rect">
            <a:avLst/>
          </a:prstGeom>
          <a:solidFill>
            <a:srgbClr val="7B1FA2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16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14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Initial</a:t>
            </a:r>
          </a:p>
        </p:txBody>
      </p:sp>
      <p:sp>
        <p:nvSpPr>
          <p:cNvPr id="18" name="Shape 18"/>
          <p:cNvSpPr/>
          <p:nvPr/>
        </p:nvSpPr>
        <p:spPr>
          <a:xfrm>
            <a:off x="24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22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Core API</a:t>
            </a:r>
          </a:p>
        </p:txBody>
      </p:sp>
      <p:sp>
        <p:nvSpPr>
          <p:cNvPr id="20" name="Shape 20"/>
          <p:cNvSpPr/>
          <p:nvPr/>
        </p:nvSpPr>
        <p:spPr>
          <a:xfrm>
            <a:off x="32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30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Add tables</a:t>
            </a:r>
          </a:p>
        </p:txBody>
      </p:sp>
      <p:sp>
        <p:nvSpPr>
          <p:cNvPr id="22" name="Shape 22"/>
          <p:cNvSpPr/>
          <p:nvPr/>
        </p:nvSpPr>
        <p:spPr>
          <a:xfrm>
            <a:off x="40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38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49" dirty="0">
                <a:solidFill>
                  <a:srgbClr val="000000"/>
                </a:solidFill>
              </a:rPr>
              <a:t>Style tables</a:t>
            </a:r>
          </a:p>
        </p:txBody>
      </p:sp>
      <p:sp>
        <p:nvSpPr>
          <p:cNvPr id="24" name="Shape 24"/>
          <p:cNvSpPr/>
          <p:nvPr/>
        </p:nvSpPr>
        <p:spPr>
          <a:xfrm>
            <a:off x="48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46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Merge feature/tables</a:t>
            </a:r>
          </a:p>
        </p:txBody>
      </p:sp>
      <p:sp>
        <p:nvSpPr>
          <p:cNvPr id="26" name="Shape 26"/>
          <p:cNvSpPr/>
          <p:nvPr/>
        </p:nvSpPr>
        <p:spPr>
          <a:xfrm>
            <a:off x="56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54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145" dirty="0">
                <a:solidFill>
                  <a:srgbClr val="000000"/>
                </a:solidFill>
              </a:rPr>
              <a:t>Add mermaid</a:t>
            </a:r>
          </a:p>
        </p:txBody>
      </p:sp>
      <p:sp>
        <p:nvSpPr>
          <p:cNvPr id="28" name="Shape 28"/>
          <p:cNvSpPr/>
          <p:nvPr/>
        </p:nvSpPr>
        <p:spPr>
          <a:xfrm>
            <a:off x="64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62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Merge feature/mermaid</a:t>
            </a:r>
          </a:p>
        </p:txBody>
      </p:sp>
      <p:sp>
        <p:nvSpPr>
          <p:cNvPr id="30" name="Shape 30"/>
          <p:cNvSpPr/>
          <p:nvPr/>
        </p:nvSpPr>
        <p:spPr>
          <a:xfrm>
            <a:off x="7272000" y="3429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7022000" y="3179000"/>
            <a:ext cx="8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49" dirty="0">
                <a:solidFill>
                  <a:srgbClr val="000000"/>
                </a:solidFill>
              </a:rPr>
              <a:t>Release v1.0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Mindmap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0" y="2700000"/>
            <a:ext cx="2000000" cy="600000"/>
          </a:xfrm>
          <a:prstGeom prst="ellipse">
            <a:avLst/>
          </a:prstGeom>
          <a:solidFill>
            <a:srgbClr val="3949AB"/>
          </a:solidFill>
          <a:ln w="12700">
            <a:solidFill>
              <a:srgbClr val="1A237E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3050000" y="2750000"/>
            <a:ext cx="1900000" cy="5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493" dirty="0">
                <a:solidFill>
                  <a:srgbClr val="000000"/>
                </a:solidFill>
              </a:rPr>
              <a:t>root((MD2PPT</a:t>
            </a:r>
          </a:p>
        </p:txBody>
      </p:sp>
      <p:sp>
        <p:nvSpPr>
          <p:cNvPr id="12" name="Shape 12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14" name="Shape 14"/>
          <p:cNvSpPr/>
          <p:nvPr/>
        </p:nvSpPr>
        <p:spPr>
          <a:xfrm>
            <a:off x="5250000" y="2800000"/>
            <a:ext cx="1500000" cy="40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Processing</a:t>
            </a:r>
          </a:p>
        </p:txBody>
      </p:sp>
      <p:sp>
        <p:nvSpPr>
          <p:cNvPr id="16" name="Shape 16"/>
          <p:cNvSpPr/>
          <p:nvPr/>
        </p:nvSpPr>
        <p:spPr>
          <a:xfrm>
            <a:off x="3250000" y="4800000"/>
            <a:ext cx="1500000" cy="40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3300000" y="4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Output</a:t>
            </a:r>
          </a:p>
        </p:txBody>
      </p:sp>
      <p:sp>
        <p:nvSpPr>
          <p:cNvPr id="18" name="Shape 18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Features</a:t>
            </a:r>
          </a:p>
        </p:txBody>
      </p:sp>
      <p:sp>
        <p:nvSpPr>
          <p:cNvPr id="20" name="Shape 20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Markdown files</a:t>
            </a:r>
          </a:p>
        </p:txBody>
      </p:sp>
      <p:sp>
        <p:nvSpPr>
          <p:cNvPr id="22" name="Shape 22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GFM tables</a:t>
            </a:r>
          </a:p>
        </p:txBody>
      </p:sp>
      <p:sp>
        <p:nvSpPr>
          <p:cNvPr id="24" name="Shape 2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377" dirty="0">
                <a:solidFill>
                  <a:srgbClr val="000000"/>
                </a:solidFill>
              </a:rPr>
              <a:t>Mermaid diagrams</a:t>
            </a:r>
          </a:p>
        </p:txBody>
      </p:sp>
      <p:sp>
        <p:nvSpPr>
          <p:cNvPr id="26" name="Shape 26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65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Parse markdown</a:t>
            </a:r>
          </a:p>
        </p:txBody>
      </p:sp>
      <p:sp>
        <p:nvSpPr>
          <p:cNvPr id="28" name="Shape 28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65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377" dirty="0">
                <a:solidFill>
                  <a:srgbClr val="000000"/>
                </a:solidFill>
              </a:rPr>
              <a:t>Convert elements</a:t>
            </a:r>
          </a:p>
        </p:txBody>
      </p:sp>
      <p:sp>
        <p:nvSpPr>
          <p:cNvPr id="30" name="Shape 30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65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Generate XML</a:t>
            </a:r>
          </a:p>
        </p:txBody>
      </p:sp>
      <p:sp>
        <p:nvSpPr>
          <p:cNvPr id="32" name="Shape 32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3300000" y="60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PPTX files</a:t>
            </a:r>
          </a:p>
        </p:txBody>
      </p:sp>
      <p:sp>
        <p:nvSpPr>
          <p:cNvPr id="34" name="Shape 34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5" name="Shape 35"/>
          <p:cNvSpPr/>
          <p:nvPr/>
        </p:nvSpPr>
        <p:spPr>
          <a:xfrm>
            <a:off x="3300000" y="60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695" dirty="0">
                <a:solidFill>
                  <a:srgbClr val="000000"/>
                </a:solidFill>
              </a:rPr>
              <a:t>Speaker notes</a:t>
            </a:r>
          </a:p>
        </p:txBody>
      </p:sp>
      <p:sp>
        <p:nvSpPr>
          <p:cNvPr id="36" name="Shape 36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7" name="Shape 37"/>
          <p:cNvSpPr/>
          <p:nvPr/>
        </p:nvSpPr>
        <p:spPr>
          <a:xfrm>
            <a:off x="3300000" y="60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Styled content</a:t>
            </a:r>
          </a:p>
        </p:txBody>
      </p:sp>
      <p:sp>
        <p:nvSpPr>
          <p:cNvPr id="38" name="Shape 38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Tables</a:t>
            </a:r>
          </a:p>
        </p:txBody>
      </p:sp>
      <p:sp>
        <p:nvSpPr>
          <p:cNvPr id="40" name="Shape 40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41" name="Shape 41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Code blocks</a:t>
            </a:r>
          </a:p>
        </p:txBody>
      </p:sp>
      <p:sp>
        <p:nvSpPr>
          <p:cNvPr id="42" name="Shape 42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43" name="Shape 43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Diagrams</a:t>
            </a:r>
          </a:p>
        </p:txBody>
      </p:sp>
      <p:sp>
        <p:nvSpPr>
          <p:cNvPr id="44" name="Shape 4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949AB"/>
            </a:solidFill>
          </a:ln>
        </p:spPr>
        <p:txBody>
          <a:bodyPr/>
          <a:lstStyle/>
          <a:p/>
        </p:txBody>
      </p:sp>
      <p:sp>
        <p:nvSpPr>
          <p:cNvPr id="45" name="Shape 45"/>
          <p:cNvSpPr/>
          <p:nvPr/>
        </p:nvSpPr>
        <p:spPr>
          <a:xfrm>
            <a:off x="3300000" y="2850000"/>
            <a:ext cx="1400000" cy="3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Formatting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3254000"/>
            <a:ext cx="7500000" cy="4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MD2PPT Development Timeline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4154000"/>
            <a:ext cx="8500000" cy="30000"/>
          </a:xfrm>
          <a:prstGeom prst="rect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1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5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2024-01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4304000"/>
            <a:ext cx="1400000" cy="25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69" dirty="0">
                <a:solidFill>
                  <a:srgbClr val="000000"/>
                </a:solidFill>
              </a:rPr>
              <a:t>Project started</a:t>
            </a:r>
          </a:p>
        </p:txBody>
      </p:sp>
      <p:sp>
        <p:nvSpPr>
          <p:cNvPr id="15" name="Shape 15"/>
          <p:cNvSpPr/>
          <p:nvPr/>
        </p:nvSpPr>
        <p:spPr>
          <a:xfrm>
            <a:off x="27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21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2024-02</a:t>
            </a:r>
          </a:p>
        </p:txBody>
      </p:sp>
      <p:sp>
        <p:nvSpPr>
          <p:cNvPr id="17" name="Shape 17"/>
          <p:cNvSpPr/>
          <p:nvPr/>
        </p:nvSpPr>
        <p:spPr>
          <a:xfrm>
            <a:off x="2100000" y="4304000"/>
            <a:ext cx="1400000" cy="500000"/>
          </a:xfrm>
          <a:prstGeom prst="roundRect">
            <a:avLst/>
          </a:prstGeom>
          <a:solidFill>
            <a:srgbClr val="D7CCC8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002" dirty="0">
                <a:solidFill>
                  <a:srgbClr val="000000"/>
                </a:solidFill>
              </a:rPr>
              <a:t>Core architecture
Basic markdown parsing</a:t>
            </a:r>
          </a:p>
        </p:txBody>
      </p:sp>
      <p:sp>
        <p:nvSpPr>
          <p:cNvPr id="18" name="Shape 18"/>
          <p:cNvSpPr/>
          <p:nvPr/>
        </p:nvSpPr>
        <p:spPr>
          <a:xfrm>
            <a:off x="43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37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2024-03</a:t>
            </a:r>
          </a:p>
        </p:txBody>
      </p:sp>
      <p:sp>
        <p:nvSpPr>
          <p:cNvPr id="20" name="Shape 20"/>
          <p:cNvSpPr/>
          <p:nvPr/>
        </p:nvSpPr>
        <p:spPr>
          <a:xfrm>
            <a:off x="3700000" y="4304000"/>
            <a:ext cx="1400000" cy="500000"/>
          </a:xfrm>
          <a:prstGeom prst="roundRect">
            <a:avLst/>
          </a:prstGeom>
          <a:solidFill>
            <a:srgbClr val="BCAAA4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377" dirty="0">
                <a:solidFill>
                  <a:srgbClr val="000000"/>
                </a:solidFill>
              </a:rPr>
              <a:t>Slide generation
Table support</a:t>
            </a:r>
          </a:p>
        </p:txBody>
      </p:sp>
      <p:sp>
        <p:nvSpPr>
          <p:cNvPr id="21" name="Shape 21"/>
          <p:cNvSpPr/>
          <p:nvPr/>
        </p:nvSpPr>
        <p:spPr>
          <a:xfrm>
            <a:off x="59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53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2024-04</a:t>
            </a:r>
          </a:p>
        </p:txBody>
      </p:sp>
      <p:sp>
        <p:nvSpPr>
          <p:cNvPr id="23" name="Shape 23"/>
          <p:cNvSpPr/>
          <p:nvPr/>
        </p:nvSpPr>
        <p:spPr>
          <a:xfrm>
            <a:off x="5300000" y="4304000"/>
            <a:ext cx="1400000" cy="500000"/>
          </a:xfrm>
          <a:prstGeom prst="roundRect">
            <a:avLst/>
          </a:prstGeom>
          <a:solidFill>
            <a:srgbClr val="A1887F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160" dirty="0">
                <a:solidFill>
                  <a:srgbClr val="000000"/>
                </a:solidFill>
              </a:rPr>
              <a:t>Code blocks
Mermaid integration</a:t>
            </a:r>
          </a:p>
        </p:txBody>
      </p:sp>
      <p:sp>
        <p:nvSpPr>
          <p:cNvPr id="24" name="Shape 24"/>
          <p:cNvSpPr/>
          <p:nvPr/>
        </p:nvSpPr>
        <p:spPr>
          <a:xfrm>
            <a:off x="7525000" y="4094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6900000" y="3754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2024-05</a:t>
            </a:r>
          </a:p>
        </p:txBody>
      </p:sp>
      <p:sp>
        <p:nvSpPr>
          <p:cNvPr id="26" name="Shape 26"/>
          <p:cNvSpPr/>
          <p:nvPr/>
        </p:nvSpPr>
        <p:spPr>
          <a:xfrm>
            <a:off x="6900000" y="4304000"/>
            <a:ext cx="1400000" cy="50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t">
            <a:normAutofit/>
          </a:bodyPr>
          <a:lstStyle/>
          <a:p>
            <a:pPr algn="l"/>
            <a:r>
              <a:rPr lang="en-US" sz="1377" dirty="0">
                <a:solidFill>
                  <a:srgbClr val="000000"/>
                </a:solidFill>
              </a:rPr>
              <a:t>Speaker notes
Testing &amp; polish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 (continued)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Continuation Slides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When you use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---</a:t>
            </a:r>
            <a:r>
              <a:rPr lang="en-US" sz="2800" b="0" i="0" dirty="0"/>
              <a:t> (horizontal rule), it creates a continuation slide. This is useful for breaking up long content.</a:t>
            </a:r>
          </a:p>
          <a:p>
            <a:pPr lvl="0"/>
            <a:r>
              <a:rPr lang="en-US" sz="2800" b="0" i="0" dirty="0"/>
              <a:t>This slide continues the previous topic</a:t>
            </a:r>
          </a:p>
          <a:p>
            <a:pPr lvl="0"/>
            <a:r>
              <a:rPr lang="en-US" sz="2800" b="0" i="0" dirty="0"/>
              <a:t>The title shows "(continued)"</a:t>
            </a:r>
          </a:p>
          <a:p>
            <a:pPr lvl="0"/>
            <a:r>
              <a:rPr lang="en-US" sz="2800" b="0" i="0" dirty="0"/>
              <a:t>Great for detailed explanations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Mixed Content Slide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1200000"/>
        </p:xfrm>
        <a:graphic>
          <a:graphicData uri="http://schemas.openxmlformats.org/drawingml/2006/table">
            <a:tbl>
              <a:tblPr firstRow="1" bandHVals="1"/>
              <a:tblGrid>
                <a:gridCol w="4000000"/>
                <a:gridCol w="4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Technical Specifications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1.75+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pulldown-cmark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//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 Example usage</a:t>
            </a:r>
          </a:p>
          <a:p>
            <a:pPr algn="l"/>
            <a:r>
              <a:rPr lang="en-US" sz="1400" dirty="0">
                <a:solidFill>
                  <a:srgbClr val="859900"/>
                </a:solidFill>
                <a:latin typeface="Consolas"/>
              </a:rPr>
              <a:t>use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ppt_rs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::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cli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::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parse_markdown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</a:p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slides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parse_markdown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content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?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pptx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create_pptx_with_content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?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Summary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What We Covered</a:t>
            </a:r>
          </a:p>
          <a:p>
            <a:pPr lvl="0"/>
            <a:r>
              <a:rPr lang="en-US" sz="2800" b="0" i="0" dirty="0"/>
              <a:t>Text formatting (bold, italic, code)</a:t>
            </a:r>
          </a:p>
          <a:p>
            <a:pPr lvl="0"/>
            <a:r>
              <a:rPr lang="en-US" sz="2800" b="0" i="0" dirty="0"/>
              <a:t>Bullet points and lists</a:t>
            </a:r>
          </a:p>
          <a:p>
            <a:pPr lvl="0"/>
            <a:r>
              <a:rPr lang="en-US" sz="2800" b="0" i="0" dirty="0"/>
              <a:t>Tables with automatic styling</a:t>
            </a:r>
          </a:p>
          <a:p>
            <a:pPr lvl="0"/>
            <a:r>
              <a:rPr lang="en-US" sz="2800" b="0" i="0" dirty="0"/>
              <a:t>Code blocks with syntax labels</a:t>
            </a:r>
          </a:p>
          <a:p>
            <a:pPr lvl="0"/>
            <a:r>
              <a:rPr lang="en-US" sz="2800" b="0" i="0" dirty="0"/>
              <a:t>12 types of Mermaid diagrams</a:t>
            </a:r>
          </a:p>
          <a:p>
            <a:pPr lvl="0"/>
            <a:r>
              <a:rPr lang="en-US" sz="2800" b="0" i="0" dirty="0"/>
              <a:t>Speaker notes from blockquotes</a:t>
            </a:r>
          </a:p>
          <a:p>
            <a:pPr lvl="0"/>
            <a:r>
              <a:rPr lang="en-US" sz="2800" b="0" i="0" dirty="0"/>
              <a:t>Slide breaks with horizontal rules</a:t>
            </a:r>
          </a:p>
          <a:p>
            <a:pPr lvl="0"/>
            <a:r>
              <a:rPr lang="en-US" sz="2800" b="1" i="0" dirty="0"/>
              <a:t>Key Benefits</a:t>
            </a:r>
          </a:p>
          <a:p>
            <a:pPr lvl="0"/>
            <a:r>
              <a:rPr lang="en-US" sz="2800" b="0" i="0" dirty="0"/>
              <a:t>Simple markdown syntax</a:t>
            </a:r>
          </a:p>
          <a:p>
            <a:pPr lvl="0"/>
            <a:r>
              <a:rPr lang="en-US" sz="2800" b="0" i="0" dirty="0"/>
              <a:t>Professional output</a:t>
            </a:r>
          </a:p>
          <a:p>
            <a:pPr lvl="0"/>
            <a:r>
              <a:rPr lang="en-US" sz="2800" b="0" i="0" dirty="0"/>
              <a:t>No PowerPoint required</a:t>
            </a:r>
          </a:p>
          <a:p>
            <a:pPr lvl="0"/>
            <a:r>
              <a:rPr lang="en-US" sz="2800" b="0" i="0" dirty="0"/>
              <a:t>Version control friendly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Thank You!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Questions?</a:t>
            </a:r>
          </a:p>
          <a:p>
            <a:pPr lvl="0"/>
            <a:r>
              <a:rPr lang="en-US" sz="2800" b="0" i="0" dirty="0"/>
              <a:t>GitHub: github.com/yingkitw/ppt-rs</a:t>
            </a:r>
          </a:p>
          <a:p>
            <a:pPr lvl="0"/>
            <a:r>
              <a:rPr lang="en-US" sz="2800" b="0" i="0" dirty="0"/>
              <a:t>Documentation: See README.md</a:t>
            </a:r>
          </a:p>
          <a:p>
            <a:pPr lvl="0"/>
            <a:r>
              <a:rPr lang="en-US" sz="2800" b="0" i="0" dirty="0"/>
              <a:t>Issues: Report bugs on GitHub</a:t>
            </a:r>
          </a:p>
          <a:p>
            <a:pPr lvl="0"/>
            <a:r>
              <a:rPr lang="en-US" sz="2800" b="1" i="0" dirty="0"/>
              <a:t>Try it yourself: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B58900"/>
                </a:solidFill>
                <a:latin typeface="Consolas"/>
              </a:rPr>
              <a:t>pptcli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md2ppt presentation.md output.pptx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from Markdown</dc:title>
  <dc:creator>pptx-rs</dc:creator>
  <cp:lastModifiedBy>pptx-rs</cp:lastModifiedBy>
  <cp:revision>1</cp:revision>
  <dcterms:created xsi:type="dcterms:W3CDTF">2025-12-08T05:33:18Z</dcterms:created>
  <dcterms:modified xsi:type="dcterms:W3CDTF">2025-12-08T05:33:18Z</dcterms:modified>
</cp:coreProperties>
</file>